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60" r:id="rId3"/>
    <p:sldId id="262"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668" autoAdjust="0"/>
  </p:normalViewPr>
  <p:slideViewPr>
    <p:cSldViewPr snapToGrid="0">
      <p:cViewPr varScale="1">
        <p:scale>
          <a:sx n="87" d="100"/>
          <a:sy n="87" d="100"/>
        </p:scale>
        <p:origin x="14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take a look at Amazons EFS or Elastic File System</a:t>
            </a:r>
          </a:p>
          <a:p>
            <a:r>
              <a:rPr lang="en-US" dirty="0"/>
              <a:t>EFS is a Managed Network File System that you are able to attach to almost any EC2 instance. In contrast to EBS you are able to attach these files through multiple different availability zones.</a:t>
            </a:r>
          </a:p>
          <a:p>
            <a:r>
              <a:rPr lang="en-US" dirty="0"/>
              <a:t>When using your EFS system, it will be surrounded by a Security Group which essentially acts as a virtual firewall, it will allow for you to better manage the resources that allowed or not allowed to connect to your EFS, it handles incoming and outgoing traffic through </a:t>
            </a:r>
            <a:r>
              <a:rPr lang="en-US" dirty="0" err="1"/>
              <a:t>ip</a:t>
            </a:r>
            <a:r>
              <a:rPr lang="en-US" dirty="0"/>
              <a:t> addresses, protocols </a:t>
            </a:r>
            <a:r>
              <a:rPr lang="en-US" dirty="0" err="1"/>
              <a:t>etc</a:t>
            </a:r>
            <a:endParaRPr lang="en-US" dirty="0"/>
          </a:p>
          <a:p>
            <a:r>
              <a:rPr lang="en-US" dirty="0"/>
              <a:t>In addition the EFS uses the NFSv4.1 protocol, which is what allows your EFS files to be accessed over a network as if they were stored locally, essentially what allows for the use of multiple EC2 instances without problems.</a:t>
            </a:r>
          </a:p>
          <a:p>
            <a:endParaRPr lang="en-US" dirty="0"/>
          </a:p>
          <a:p>
            <a:r>
              <a:rPr lang="en-US" dirty="0"/>
              <a:t>The biggest problems you will see with EFS is that it is three times as expensive as the EBS gp2 storage we mentioned before.  </a:t>
            </a:r>
          </a:p>
          <a:p>
            <a:r>
              <a:rPr lang="en-US" dirty="0"/>
              <a:t>Also </a:t>
            </a:r>
            <a:r>
              <a:rPr lang="en-US" dirty="0" err="1"/>
              <a:t>Efs</a:t>
            </a:r>
            <a:r>
              <a:rPr lang="en-US" dirty="0"/>
              <a:t> is not compatible with windows and is only for Linux based workloads, it uses the POSIX file system where Linux applications are able to use familiar operations and permissions. </a:t>
            </a:r>
          </a:p>
          <a:p>
            <a:endParaRPr lang="en-US" dirty="0"/>
          </a:p>
          <a:p>
            <a:endParaRPr lang="en-US"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1B888-B2A1-F3F2-C3A7-C8033A684E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C79258-9E43-46D0-1F02-C273C7900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F0F8F-81C4-4AD5-2ACE-893205825195}"/>
              </a:ext>
            </a:extLst>
          </p:cNvPr>
          <p:cNvSpPr>
            <a:spLocks noGrp="1"/>
          </p:cNvSpPr>
          <p:nvPr>
            <p:ph type="body" idx="1"/>
          </p:nvPr>
        </p:nvSpPr>
        <p:spPr/>
        <p:txBody>
          <a:bodyPr/>
          <a:lstStyle/>
          <a:p>
            <a:r>
              <a:rPr lang="en-US" dirty="0"/>
              <a:t>“Amazon EFS offers three storage classes to balance performance and cost.</a:t>
            </a:r>
          </a:p>
          <a:p>
            <a:r>
              <a:rPr lang="en-US" b="1" dirty="0"/>
              <a:t>Standard</a:t>
            </a:r>
            <a:r>
              <a:rPr lang="en-US" dirty="0"/>
              <a:t> is for frequently accessed files that need fast access.</a:t>
            </a:r>
          </a:p>
          <a:p>
            <a:r>
              <a:rPr lang="en-US" b="1" dirty="0"/>
              <a:t>Infrequent Access, or EFS-IA,</a:t>
            </a:r>
            <a:r>
              <a:rPr lang="en-US" dirty="0"/>
              <a:t> reduces storage costs for files used only occasionally.</a:t>
            </a:r>
          </a:p>
          <a:p>
            <a:r>
              <a:rPr lang="en-US" b="1" dirty="0"/>
              <a:t>Archive</a:t>
            </a:r>
            <a:r>
              <a:rPr lang="en-US" dirty="0"/>
              <a:t> offers even lower storage costs for files that are rarely accessed. Both IA and Archive have additional data-access charges, so they suit less active data.</a:t>
            </a:r>
          </a:p>
          <a:p>
            <a:r>
              <a:rPr lang="en-US" b="1" dirty="0"/>
              <a:t>Lifecycle policies</a:t>
            </a:r>
            <a:r>
              <a:rPr lang="en-US" dirty="0"/>
              <a:t> automatically move files between these classes based on how long they have gone without being accessed. For example, you could move inactive files to IA after 30 days and Archive after 90 days. You can also enable a policy that moves them back to Standard when accessed again.”</a:t>
            </a:r>
          </a:p>
          <a:p>
            <a:endParaRPr lang="en-US" dirty="0"/>
          </a:p>
        </p:txBody>
      </p:sp>
      <p:sp>
        <p:nvSpPr>
          <p:cNvPr id="4" name="Slide Number Placeholder 3">
            <a:extLst>
              <a:ext uri="{FF2B5EF4-FFF2-40B4-BE49-F238E27FC236}">
                <a16:creationId xmlns:a16="http://schemas.microsoft.com/office/drawing/2014/main" id="{5EC532D9-862A-1978-895A-DE9E300B3EF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43432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42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A1904081-F188-455A-ADF0-F38D9962D680}"/>
              </a:ext>
            </a:extLst>
          </p:cNvPr>
          <p:cNvSpPr>
            <a:spLocks noGrp="1"/>
          </p:cNvSpPr>
          <p:nvPr/>
        </p:nvSpPr>
        <p:spPr>
          <a:xfrm>
            <a:off x="11096625" y="6238875"/>
            <a:ext cx="523875" cy="304800"/>
          </a:xfrm>
          <a:prstGeom prst="rect">
            <a:avLst/>
          </a:prstGeom>
          <a:noFill/>
          <a:ln w="0">
            <a:noFill/>
          </a:ln>
        </p:spPr>
        <p:txBody>
          <a:bodyPr>
            <a:noAutofit/>
          </a:bodyPr>
          <a:lstStyle/>
          <a:p>
            <a:pPr>
              <a:buNone/>
              <a:defRPr sz="1425" b="0">
                <a:solidFill>
                  <a:srgbClr val="8CA1B5"/>
                </a:solidFill>
                <a:latin typeface="DejaVu Sans"/>
                <a:ea typeface="DejaVu Sans"/>
                <a:cs typeface="DejaVu Sans"/>
              </a:defRPr>
            </a:pPr>
            <a:endParaRPr sz="1425" b="0" dirty="0">
              <a:solidFill>
                <a:srgbClr val="8CA1B5"/>
              </a:solidFill>
              <a:latin typeface="DejaVu Sans"/>
              <a:ea typeface="DejaVu Sans"/>
              <a:cs typeface="DejaVu Sans"/>
            </a:endParaRPr>
          </a:p>
        </p:txBody>
      </p:sp>
      <p:sp>
        <p:nvSpPr>
          <p:cNvPr id="3" name="Rectangle 2">
            <a:extLst>
              <a:ext uri="{FF2B5EF4-FFF2-40B4-BE49-F238E27FC236}">
                <a16:creationId xmlns:a16="http://schemas.microsoft.com/office/drawing/2014/main" id="{02A3ADB3-C087-4233-84DA-63C73D46C918}"/>
              </a:ext>
            </a:extLst>
          </p:cNvPr>
          <p:cNvSpPr>
            <a:spLocks noGrp="1"/>
          </p:cNvSpPr>
          <p:nvPr/>
        </p:nvSpPr>
        <p:spPr>
          <a:xfrm>
            <a:off x="685800" y="1066800"/>
            <a:ext cx="5619750" cy="381000"/>
          </a:xfrm>
          <a:prstGeom prst="rect">
            <a:avLst/>
          </a:prstGeom>
          <a:noFill/>
          <a:ln w="0">
            <a:noFill/>
          </a:ln>
        </p:spPr>
        <p:txBody>
          <a:bodyPr>
            <a:noAutofit/>
          </a:bodyPr>
          <a:lstStyle/>
          <a:p>
            <a:pPr>
              <a:buNone/>
              <a:defRPr sz="1650" b="1">
                <a:solidFill>
                  <a:srgbClr val="FFAF48"/>
                </a:solidFill>
                <a:latin typeface="DejaVu Sans"/>
                <a:ea typeface="DejaVu Sans"/>
                <a:cs typeface="DejaVu Sans"/>
              </a:defRPr>
            </a:pPr>
            <a:r>
              <a:rPr sz="1650" b="1">
                <a:solidFill>
                  <a:srgbClr val="FFAF48"/>
                </a:solidFill>
                <a:latin typeface="DejaVu Sans"/>
                <a:ea typeface="DejaVu Sans"/>
                <a:cs typeface="DejaVu Sans"/>
              </a:rPr>
              <a:t>AMAZON WEB SERVICES</a:t>
            </a:r>
          </a:p>
        </p:txBody>
      </p:sp>
      <p:sp>
        <p:nvSpPr>
          <p:cNvPr id="4" name="Rectangle 3">
            <a:extLst>
              <a:ext uri="{FF2B5EF4-FFF2-40B4-BE49-F238E27FC236}">
                <a16:creationId xmlns:a16="http://schemas.microsoft.com/office/drawing/2014/main" id="{B7757609-747C-446F-8C4E-8BDBD272C241}"/>
              </a:ext>
            </a:extLst>
          </p:cNvPr>
          <p:cNvSpPr>
            <a:spLocks noGrp="1"/>
          </p:cNvSpPr>
          <p:nvPr/>
        </p:nvSpPr>
        <p:spPr>
          <a:xfrm>
            <a:off x="647700" y="1819275"/>
            <a:ext cx="6191250" cy="1838325"/>
          </a:xfrm>
          <a:prstGeom prst="rect">
            <a:avLst/>
          </a:prstGeom>
          <a:noFill/>
          <a:ln w="0">
            <a:noFill/>
          </a:ln>
        </p:spPr>
        <p:txBody>
          <a:bodyPr>
            <a:noAutofit/>
          </a:bodyPr>
          <a:lstStyle/>
          <a:p>
            <a:pPr>
              <a:buNone/>
              <a:defRPr sz="6150" b="1">
                <a:solidFill>
                  <a:srgbClr val="FFFFFF"/>
                </a:solidFill>
                <a:latin typeface="DejaVu Sans"/>
                <a:ea typeface="DejaVu Sans"/>
                <a:cs typeface="DejaVu Sans"/>
              </a:defRPr>
            </a:pPr>
            <a:r>
              <a:rPr lang="en-US" sz="6150" b="1" dirty="0">
                <a:solidFill>
                  <a:srgbClr val="FFFFFF"/>
                </a:solidFill>
                <a:latin typeface="DejaVu Sans"/>
                <a:ea typeface="DejaVu Sans"/>
                <a:cs typeface="DejaVu Sans"/>
              </a:rPr>
              <a:t>Network Storage</a:t>
            </a:r>
            <a:endParaRPr sz="6150" b="1" dirty="0">
              <a:solidFill>
                <a:srgbClr val="FFFFFF"/>
              </a:solidFill>
              <a:latin typeface="DejaVu Sans"/>
              <a:ea typeface="DejaVu Sans"/>
              <a:cs typeface="DejaVu Sans"/>
            </a:endParaRPr>
          </a:p>
        </p:txBody>
      </p:sp>
      <p:sp>
        <p:nvSpPr>
          <p:cNvPr id="5" name="Rectangle 4">
            <a:extLst>
              <a:ext uri="{FF2B5EF4-FFF2-40B4-BE49-F238E27FC236}">
                <a16:creationId xmlns:a16="http://schemas.microsoft.com/office/drawing/2014/main" id="{E9C2F507-5615-4F8A-B7F7-6FC220BB8751}"/>
              </a:ext>
            </a:extLst>
          </p:cNvPr>
          <p:cNvSpPr>
            <a:spLocks noGrp="1"/>
          </p:cNvSpPr>
          <p:nvPr/>
        </p:nvSpPr>
        <p:spPr>
          <a:xfrm>
            <a:off x="685800" y="4038600"/>
            <a:ext cx="6000750" cy="714375"/>
          </a:xfrm>
          <a:prstGeom prst="rect">
            <a:avLst/>
          </a:prstGeom>
          <a:noFill/>
          <a:ln w="0">
            <a:noFill/>
          </a:ln>
        </p:spPr>
        <p:txBody>
          <a:bodyPr>
            <a:noAutofit/>
          </a:bodyPr>
          <a:lstStyle/>
          <a:p>
            <a:pPr>
              <a:buNone/>
              <a:defRPr sz="1875" b="0">
                <a:solidFill>
                  <a:srgbClr val="C4D1DE"/>
                </a:solidFill>
                <a:latin typeface="DejaVu Sans"/>
                <a:ea typeface="DejaVu Sans"/>
                <a:cs typeface="DejaVu Sans"/>
              </a:defRPr>
            </a:pPr>
            <a:r>
              <a:rPr sz="1875" b="0" dirty="0">
                <a:solidFill>
                  <a:srgbClr val="C4D1DE"/>
                </a:solidFill>
                <a:latin typeface="DejaVu Sans"/>
                <a:ea typeface="DejaVu Sans"/>
                <a:cs typeface="DejaVu Sans"/>
              </a:rPr>
              <a:t>EBS / EFS</a:t>
            </a:r>
          </a:p>
        </p:txBody>
      </p:sp>
      <p:sp>
        <p:nvSpPr>
          <p:cNvPr id="6" name="Rectangle 5">
            <a:extLst>
              <a:ext uri="{FF2B5EF4-FFF2-40B4-BE49-F238E27FC236}">
                <a16:creationId xmlns:a16="http://schemas.microsoft.com/office/drawing/2014/main" id="{4C2A27B5-FB4B-471E-9B48-363A6AC79393}"/>
              </a:ext>
            </a:extLst>
          </p:cNvPr>
          <p:cNvSpPr>
            <a:spLocks noGrp="1"/>
          </p:cNvSpPr>
          <p:nvPr/>
        </p:nvSpPr>
        <p:spPr>
          <a:xfrm>
            <a:off x="685800" y="5734050"/>
            <a:ext cx="5905500" cy="400050"/>
          </a:xfrm>
          <a:prstGeom prst="rect">
            <a:avLst/>
          </a:prstGeom>
          <a:noFill/>
          <a:ln w="0">
            <a:noFill/>
          </a:ln>
        </p:spPr>
        <p:txBody>
          <a:bodyPr>
            <a:noAutofit/>
          </a:bodyPr>
          <a:lstStyle/>
          <a:p>
            <a:pPr>
              <a:buNone/>
              <a:defRPr sz="1650" b="0">
                <a:solidFill>
                  <a:srgbClr val="8CA1B5"/>
                </a:solidFill>
                <a:latin typeface="DejaVu Sans"/>
                <a:ea typeface="DejaVu Sans"/>
                <a:cs typeface="DejaVu Sans"/>
              </a:defRPr>
            </a:pPr>
            <a:r>
              <a:rPr sz="1650" b="0" dirty="0">
                <a:solidFill>
                  <a:srgbClr val="8CA1B5"/>
                </a:solidFill>
                <a:latin typeface="DejaVu Sans"/>
                <a:ea typeface="DejaVu Sans"/>
                <a:cs typeface="DejaVu Sans"/>
              </a:rPr>
              <a:t>[</a:t>
            </a:r>
            <a:r>
              <a:rPr lang="en-US" sz="1650" dirty="0">
                <a:solidFill>
                  <a:srgbClr val="8CA1B5"/>
                </a:solidFill>
                <a:latin typeface="DejaVu Sans"/>
                <a:ea typeface="DejaVu Sans"/>
                <a:cs typeface="DejaVu Sans"/>
              </a:rPr>
              <a:t>Marcin Hoffman</a:t>
            </a:r>
            <a:r>
              <a:rPr sz="1650" b="0" dirty="0">
                <a:solidFill>
                  <a:srgbClr val="8CA1B5"/>
                </a:solidFill>
                <a:latin typeface="DejaVu Sans"/>
                <a:ea typeface="DejaVu Sans"/>
                <a:cs typeface="DejaVu Sans"/>
              </a:rPr>
              <a:t>]  / [</a:t>
            </a:r>
            <a:r>
              <a:rPr lang="en-US" sz="1650" b="0" dirty="0" err="1">
                <a:solidFill>
                  <a:srgbClr val="8CA1B5"/>
                </a:solidFill>
                <a:latin typeface="DejaVu Sans"/>
                <a:ea typeface="DejaVu Sans"/>
                <a:cs typeface="DejaVu Sans"/>
              </a:rPr>
              <a:t>Professor:Victor</a:t>
            </a:r>
            <a:r>
              <a:rPr lang="en-US" sz="1650" b="0" dirty="0">
                <a:solidFill>
                  <a:srgbClr val="8CA1B5"/>
                </a:solidFill>
                <a:latin typeface="DejaVu Sans"/>
                <a:ea typeface="DejaVu Sans"/>
                <a:cs typeface="DejaVu Sans"/>
              </a:rPr>
              <a:t> </a:t>
            </a:r>
            <a:r>
              <a:rPr lang="en-US" sz="1650" b="0" dirty="0" err="1">
                <a:solidFill>
                  <a:srgbClr val="8CA1B5"/>
                </a:solidFill>
                <a:latin typeface="DejaVu Sans"/>
                <a:ea typeface="DejaVu Sans"/>
                <a:cs typeface="DejaVu Sans"/>
              </a:rPr>
              <a:t>Govidaswamy</a:t>
            </a:r>
            <a:r>
              <a:rPr sz="1650" b="0" dirty="0">
                <a:solidFill>
                  <a:srgbClr val="8CA1B5"/>
                </a:solidFill>
                <a:latin typeface="DejaVu Sans"/>
                <a:ea typeface="DejaVu Sans"/>
                <a:cs typeface="DejaVu Sans"/>
              </a:rPr>
              <a:t>]</a:t>
            </a:r>
            <a:r>
              <a:rPr lang="en-US" sz="1650" b="0" dirty="0">
                <a:solidFill>
                  <a:srgbClr val="8CA1B5"/>
                </a:solidFill>
                <a:latin typeface="DejaVu Sans"/>
                <a:ea typeface="DejaVu Sans"/>
                <a:cs typeface="DejaVu Sans"/>
              </a:rPr>
              <a:t> / [09/20/2026]</a:t>
            </a:r>
            <a:endParaRPr sz="1650" b="0" dirty="0">
              <a:solidFill>
                <a:srgbClr val="8CA1B5"/>
              </a:solidFill>
              <a:latin typeface="DejaVu Sans"/>
              <a:ea typeface="DejaVu Sans"/>
              <a:cs typeface="DejaVu Sans"/>
            </a:endParaRPr>
          </a:p>
        </p:txBody>
      </p:sp>
    </p:spTree>
    <p:extLst>
      <p:ext uri="{BB962C8B-B14F-4D97-AF65-F5344CB8AC3E}">
        <p14:creationId xmlns:p14="http://schemas.microsoft.com/office/powerpoint/2010/main" val="1206587451"/>
      </p:ext>
    </p:extLst>
  </p:cSld>
  <p:clrMapOvr>
    <a:masterClrMapping/>
  </p:clrMapOvr>
  <mc:AlternateContent xmlns:mc="http://schemas.openxmlformats.org/markup-compatibility/2006" xmlns:p14="http://schemas.microsoft.com/office/powerpoint/2010/main">
    <mc:Choice Requires="p14">
      <p:transition spd="slow" p14:dur="2000" advTm="14131"/>
    </mc:Choice>
    <mc:Fallback xmlns="">
      <p:transition spd="slow" advTm="1413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91421"/>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stretch/>
        </p:blipFill>
        <p:spPr>
          <a:xfrm>
            <a:off x="6715125" y="1952625"/>
            <a:ext cx="4572000" cy="4572000"/>
          </a:xfrm>
          <a:prstGeom prst="rect">
            <a:avLst/>
          </a:prstGeom>
        </p:spPr>
      </p:pic>
      <p:sp>
        <p:nvSpPr>
          <p:cNvPr id="2" name="Rectangle 1">
            <a:extLst>
              <a:ext uri="{FF2B5EF4-FFF2-40B4-BE49-F238E27FC236}">
                <a16:creationId xmlns:a16="http://schemas.microsoft.com/office/drawing/2014/main" id="{1ACBAD27-03A1-41B9-B67B-22AF74E7479A}"/>
              </a:ext>
            </a:extLst>
          </p:cNvPr>
          <p:cNvSpPr>
            <a:spLocks noGrp="1"/>
          </p:cNvSpPr>
          <p:nvPr/>
        </p:nvSpPr>
        <p:spPr>
          <a:xfrm>
            <a:off x="11096625" y="6238875"/>
            <a:ext cx="523875" cy="304800"/>
          </a:xfrm>
          <a:prstGeom prst="rect">
            <a:avLst/>
          </a:prstGeom>
          <a:noFill/>
          <a:ln w="0">
            <a:noFill/>
          </a:ln>
        </p:spPr>
        <p:txBody>
          <a:bodyPr>
            <a:noAutofit/>
          </a:bodyPr>
          <a:lstStyle/>
          <a:p>
            <a:pPr>
              <a:buNone/>
              <a:defRPr sz="1425" b="0">
                <a:solidFill>
                  <a:srgbClr val="8CA1B5"/>
                </a:solidFill>
                <a:latin typeface="DejaVu Sans"/>
                <a:ea typeface="DejaVu Sans"/>
                <a:cs typeface="DejaVu Sans"/>
              </a:defRPr>
            </a:pPr>
            <a:endParaRPr sz="1425" b="0" dirty="0">
              <a:solidFill>
                <a:srgbClr val="8CA1B5"/>
              </a:solidFill>
              <a:latin typeface="DejaVu Sans"/>
              <a:ea typeface="DejaVu Sans"/>
              <a:cs typeface="DejaVu Sans"/>
            </a:endParaRPr>
          </a:p>
        </p:txBody>
      </p:sp>
      <p:sp>
        <p:nvSpPr>
          <p:cNvPr id="3" name="Rectangle 2">
            <a:extLst>
              <a:ext uri="{FF2B5EF4-FFF2-40B4-BE49-F238E27FC236}">
                <a16:creationId xmlns:a16="http://schemas.microsoft.com/office/drawing/2014/main" id="{138C281C-FE2E-4871-BA80-199191902F0F}"/>
              </a:ext>
            </a:extLst>
          </p:cNvPr>
          <p:cNvSpPr>
            <a:spLocks noGrp="1"/>
          </p:cNvSpPr>
          <p:nvPr/>
        </p:nvSpPr>
        <p:spPr>
          <a:xfrm>
            <a:off x="685800" y="733425"/>
            <a:ext cx="6191250" cy="733425"/>
          </a:xfrm>
          <a:prstGeom prst="rect">
            <a:avLst/>
          </a:prstGeom>
          <a:noFill/>
          <a:ln w="0">
            <a:noFill/>
          </a:ln>
        </p:spPr>
        <p:txBody>
          <a:bodyPr>
            <a:noAutofit/>
          </a:bodyPr>
          <a:lstStyle/>
          <a:p>
            <a:pPr>
              <a:buNone/>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Amazon EFS</a:t>
            </a:r>
          </a:p>
        </p:txBody>
      </p:sp>
      <p:sp>
        <p:nvSpPr>
          <p:cNvPr id="4" name="Rectangle 3">
            <a:extLst>
              <a:ext uri="{FF2B5EF4-FFF2-40B4-BE49-F238E27FC236}">
                <a16:creationId xmlns:a16="http://schemas.microsoft.com/office/drawing/2014/main" id="{72440380-8E62-488C-9143-27B05877658D}"/>
              </a:ext>
            </a:extLst>
          </p:cNvPr>
          <p:cNvSpPr>
            <a:spLocks noGrp="1"/>
          </p:cNvSpPr>
          <p:nvPr/>
        </p:nvSpPr>
        <p:spPr>
          <a:xfrm>
            <a:off x="714375" y="1543050"/>
            <a:ext cx="5810250" cy="419100"/>
          </a:xfrm>
          <a:prstGeom prst="rect">
            <a:avLst/>
          </a:prstGeom>
          <a:noFill/>
          <a:ln w="0">
            <a:noFill/>
          </a:ln>
        </p:spPr>
        <p:txBody>
          <a:bodyPr>
            <a:noAutofit/>
          </a:bodyPr>
          <a:lstStyle/>
          <a:p>
            <a:pPr>
              <a:buNone/>
              <a:defRPr sz="1875" b="0">
                <a:solidFill>
                  <a:srgbClr val="65DDE8"/>
                </a:solidFill>
                <a:latin typeface="DejaVu Sans"/>
                <a:ea typeface="DejaVu Sans"/>
                <a:cs typeface="DejaVu Sans"/>
              </a:defRPr>
            </a:pPr>
            <a:r>
              <a:rPr sz="1875" b="0">
                <a:solidFill>
                  <a:srgbClr val="65DDE8"/>
                </a:solidFill>
                <a:latin typeface="DejaVu Sans"/>
                <a:ea typeface="DejaVu Sans"/>
                <a:cs typeface="DejaVu Sans"/>
              </a:rPr>
              <a:t>Elastic File System</a:t>
            </a:r>
          </a:p>
        </p:txBody>
      </p:sp>
      <p:sp>
        <p:nvSpPr>
          <p:cNvPr id="5" name="Rectangle 4">
            <a:extLst>
              <a:ext uri="{FF2B5EF4-FFF2-40B4-BE49-F238E27FC236}">
                <a16:creationId xmlns:a16="http://schemas.microsoft.com/office/drawing/2014/main" id="{8F64FEC4-22F5-4A5B-9AF2-18D41FA94E1A}"/>
              </a:ext>
            </a:extLst>
          </p:cNvPr>
          <p:cNvSpPr>
            <a:spLocks noGrp="1"/>
          </p:cNvSpPr>
          <p:nvPr/>
        </p:nvSpPr>
        <p:spPr>
          <a:xfrm>
            <a:off x="714375" y="2800350"/>
            <a:ext cx="5048250" cy="419100"/>
          </a:xfrm>
          <a:prstGeom prst="rect">
            <a:avLst/>
          </a:prstGeom>
          <a:noFill/>
          <a:ln w="0">
            <a:noFill/>
          </a:ln>
        </p:spPr>
        <p:txBody>
          <a:bodyPr>
            <a:noAutofit/>
          </a:bodyPr>
          <a:lstStyle/>
          <a:p>
            <a:pPr>
              <a:buNone/>
              <a:defRPr sz="2250" b="1">
                <a:solidFill>
                  <a:srgbClr val="FFFFFF"/>
                </a:solidFill>
                <a:latin typeface="DejaVu Sans"/>
                <a:ea typeface="DejaVu Sans"/>
                <a:cs typeface="DejaVu Sans"/>
              </a:defRPr>
            </a:pPr>
            <a:r>
              <a:rPr lang="en-US" sz="2250" b="1" dirty="0">
                <a:solidFill>
                  <a:srgbClr val="FFFFFF"/>
                </a:solidFill>
                <a:latin typeface="DejaVu Sans"/>
                <a:ea typeface="DejaVu Sans"/>
                <a:cs typeface="DejaVu Sans"/>
              </a:rPr>
              <a:t>Characteristics</a:t>
            </a:r>
            <a:endParaRPr sz="2250" b="1" dirty="0">
              <a:solidFill>
                <a:srgbClr val="FFFFFF"/>
              </a:solidFill>
              <a:latin typeface="DejaVu Sans"/>
              <a:ea typeface="DejaVu Sans"/>
              <a:cs typeface="DejaVu Sans"/>
            </a:endParaRPr>
          </a:p>
        </p:txBody>
      </p:sp>
      <p:sp>
        <p:nvSpPr>
          <p:cNvPr id="6" name="Rectangle 5">
            <a:extLst>
              <a:ext uri="{FF2B5EF4-FFF2-40B4-BE49-F238E27FC236}">
                <a16:creationId xmlns:a16="http://schemas.microsoft.com/office/drawing/2014/main" id="{532921A3-E603-47C0-94F3-7739B78943F0}"/>
              </a:ext>
            </a:extLst>
          </p:cNvPr>
          <p:cNvSpPr>
            <a:spLocks noGrp="1"/>
          </p:cNvSpPr>
          <p:nvPr/>
        </p:nvSpPr>
        <p:spPr>
          <a:xfrm>
            <a:off x="714375" y="3314700"/>
            <a:ext cx="5238750" cy="619125"/>
          </a:xfrm>
          <a:prstGeom prst="rect">
            <a:avLst/>
          </a:prstGeom>
          <a:noFill/>
          <a:ln w="0">
            <a:noFill/>
          </a:ln>
        </p:spPr>
        <p:txBody>
          <a:bodyPr>
            <a:noAutofit/>
          </a:bodyPr>
          <a:lstStyle/>
          <a:p>
            <a:pPr marL="342900" indent="-342900">
              <a:buFontTx/>
              <a:buChar char="-"/>
              <a:defRPr sz="1950" b="0">
                <a:solidFill>
                  <a:srgbClr val="A8B8C8"/>
                </a:solidFill>
                <a:latin typeface="DejaVu Sans"/>
                <a:ea typeface="DejaVu Sans"/>
                <a:cs typeface="DejaVu Sans"/>
              </a:defRPr>
            </a:pPr>
            <a:r>
              <a:rPr lang="en-US" sz="1950" b="0" dirty="0">
                <a:solidFill>
                  <a:srgbClr val="A8B8C8"/>
                </a:solidFill>
                <a:latin typeface="DejaVu Sans"/>
                <a:ea typeface="DejaVu Sans"/>
                <a:cs typeface="DejaVu Sans"/>
              </a:rPr>
              <a:t>Multiple EC2 instances across AZ’s</a:t>
            </a:r>
          </a:p>
          <a:p>
            <a:pPr marL="342900" indent="-342900">
              <a:buFontTx/>
              <a:buChar char="-"/>
              <a:defRPr sz="1950" b="0">
                <a:solidFill>
                  <a:srgbClr val="A8B8C8"/>
                </a:solidFill>
                <a:latin typeface="DejaVu Sans"/>
                <a:ea typeface="DejaVu Sans"/>
                <a:cs typeface="DejaVu Sans"/>
              </a:defRPr>
            </a:pPr>
            <a:endParaRPr lang="en-US" sz="195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b="0" dirty="0">
                <a:solidFill>
                  <a:srgbClr val="A8B8C8"/>
                </a:solidFill>
                <a:latin typeface="DejaVu Sans"/>
                <a:ea typeface="DejaVu Sans"/>
                <a:cs typeface="DejaVu Sans"/>
              </a:rPr>
              <a:t>Highly Available</a:t>
            </a:r>
          </a:p>
          <a:p>
            <a:pPr marL="342900" indent="-342900">
              <a:buFontTx/>
              <a:buChar char="-"/>
              <a:defRPr sz="1950" b="0">
                <a:solidFill>
                  <a:srgbClr val="A8B8C8"/>
                </a:solidFill>
                <a:latin typeface="DejaVu Sans"/>
                <a:ea typeface="DejaVu Sans"/>
                <a:cs typeface="DejaVu Sans"/>
              </a:defRPr>
            </a:pPr>
            <a:endParaRPr lang="en-US" sz="195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Relativity Expensive </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Pay-per-use </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Only compatible with Linux not Windows</a:t>
            </a: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endParaRPr lang="en-US" sz="195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endParaRPr sz="1950" b="0" dirty="0">
              <a:solidFill>
                <a:srgbClr val="A8B8C8"/>
              </a:solidFill>
              <a:latin typeface="DejaVu Sans"/>
              <a:ea typeface="DejaVu Sans"/>
              <a:cs typeface="DejaVu Sans"/>
            </a:endParaRPr>
          </a:p>
        </p:txBody>
      </p:sp>
      <p:sp>
        <p:nvSpPr>
          <p:cNvPr id="7" name="Rectangle 6">
            <a:extLst>
              <a:ext uri="{FF2B5EF4-FFF2-40B4-BE49-F238E27FC236}">
                <a16:creationId xmlns:a16="http://schemas.microsoft.com/office/drawing/2014/main" id="{40D37BBB-2E9E-4C1B-AA00-18A1BC4C9620}"/>
              </a:ext>
            </a:extLst>
          </p:cNvPr>
          <p:cNvSpPr>
            <a:spLocks noGrp="1"/>
          </p:cNvSpPr>
          <p:nvPr/>
        </p:nvSpPr>
        <p:spPr>
          <a:xfrm>
            <a:off x="714375" y="4600575"/>
            <a:ext cx="5143500" cy="419100"/>
          </a:xfrm>
          <a:prstGeom prst="rect">
            <a:avLst/>
          </a:prstGeom>
          <a:noFill/>
          <a:ln w="0">
            <a:noFill/>
          </a:ln>
        </p:spPr>
        <p:txBody>
          <a:bodyPr>
            <a:noAutofit/>
          </a:bodyPr>
          <a:lstStyle/>
          <a:p>
            <a:pPr>
              <a:buNone/>
              <a:defRPr sz="2250" b="1">
                <a:solidFill>
                  <a:srgbClr val="FFFFFF"/>
                </a:solidFill>
                <a:latin typeface="DejaVu Sans"/>
                <a:ea typeface="DejaVu Sans"/>
                <a:cs typeface="DejaVu Sans"/>
              </a:defRPr>
            </a:pPr>
            <a:endParaRPr sz="2250" b="1" dirty="0">
              <a:solidFill>
                <a:srgbClr val="FFFFFF"/>
              </a:solidFill>
              <a:latin typeface="DejaVu Sans"/>
              <a:ea typeface="DejaVu Sans"/>
              <a:cs typeface="DejaVu Sans"/>
            </a:endParaRPr>
          </a:p>
        </p:txBody>
      </p:sp>
    </p:spTree>
    <p:extLst>
      <p:ext uri="{BB962C8B-B14F-4D97-AF65-F5344CB8AC3E}">
        <p14:creationId xmlns:p14="http://schemas.microsoft.com/office/powerpoint/2010/main" val="366790729"/>
      </p:ext>
    </p:extLst>
  </p:cSld>
  <p:clrMapOvr>
    <a:masterClrMapping/>
  </p:clrMapOvr>
  <mc:AlternateContent xmlns:mc="http://schemas.openxmlformats.org/markup-compatibility/2006" xmlns:p14="http://schemas.microsoft.com/office/powerpoint/2010/main">
    <mc:Choice Requires="p14">
      <p:transition spd="slow" p14:dur="2000" advTm="134951"/>
    </mc:Choice>
    <mc:Fallback xmlns="">
      <p:transition spd="slow" advTm="13495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884ED044-C4E0-9943-6697-CF8E9E8387A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96F902B-ADEC-E5CD-4E10-AEE24F4141FF}"/>
              </a:ext>
            </a:extLst>
          </p:cNvPr>
          <p:cNvSpPr>
            <a:spLocks noGrp="1"/>
          </p:cNvSpPr>
          <p:nvPr/>
        </p:nvSpPr>
        <p:spPr>
          <a:xfrm>
            <a:off x="11096625" y="6238875"/>
            <a:ext cx="523875" cy="304800"/>
          </a:xfrm>
          <a:prstGeom prst="rect">
            <a:avLst/>
          </a:prstGeom>
          <a:noFill/>
          <a:ln w="0">
            <a:noFill/>
          </a:ln>
        </p:spPr>
        <p:txBody>
          <a:bodyPr>
            <a:noAutofit/>
          </a:bodyPr>
          <a:lstStyle/>
          <a:p>
            <a:pPr>
              <a:buNone/>
              <a:defRPr sz="1425" b="0">
                <a:solidFill>
                  <a:srgbClr val="8CA1B5"/>
                </a:solidFill>
                <a:latin typeface="DejaVu Sans"/>
                <a:ea typeface="DejaVu Sans"/>
                <a:cs typeface="DejaVu Sans"/>
              </a:defRPr>
            </a:pPr>
            <a:endParaRPr sz="1425" b="0" dirty="0">
              <a:solidFill>
                <a:srgbClr val="8CA1B5"/>
              </a:solidFill>
              <a:latin typeface="DejaVu Sans"/>
              <a:ea typeface="DejaVu Sans"/>
              <a:cs typeface="DejaVu Sans"/>
            </a:endParaRPr>
          </a:p>
        </p:txBody>
      </p:sp>
      <p:sp>
        <p:nvSpPr>
          <p:cNvPr id="3" name="Rectangle 2">
            <a:extLst>
              <a:ext uri="{FF2B5EF4-FFF2-40B4-BE49-F238E27FC236}">
                <a16:creationId xmlns:a16="http://schemas.microsoft.com/office/drawing/2014/main" id="{136A428A-75C7-598E-ACBF-6A039DD5150D}"/>
              </a:ext>
            </a:extLst>
          </p:cNvPr>
          <p:cNvSpPr>
            <a:spLocks noGrp="1"/>
          </p:cNvSpPr>
          <p:nvPr/>
        </p:nvSpPr>
        <p:spPr>
          <a:xfrm>
            <a:off x="685800" y="609600"/>
            <a:ext cx="6858000" cy="685800"/>
          </a:xfrm>
          <a:prstGeom prst="rect">
            <a:avLst/>
          </a:prstGeom>
          <a:noFill/>
          <a:ln w="0">
            <a:noFill/>
          </a:ln>
        </p:spPr>
        <p:txBody>
          <a:bodyPr>
            <a:noAutofit/>
          </a:bodyPr>
          <a:lstStyle/>
          <a:p>
            <a:pPr>
              <a:buNone/>
              <a:defRPr sz="3600" b="1">
                <a:solidFill>
                  <a:srgbClr val="FFFFFF"/>
                </a:solidFill>
                <a:latin typeface="DejaVu Sans"/>
                <a:ea typeface="DejaVu Sans"/>
                <a:cs typeface="DejaVu Sans"/>
              </a:defRPr>
            </a:pPr>
            <a:r>
              <a:rPr sz="3600" b="1" dirty="0">
                <a:solidFill>
                  <a:srgbClr val="FFFFFF"/>
                </a:solidFill>
                <a:latin typeface="DejaVu Sans"/>
                <a:ea typeface="DejaVu Sans"/>
                <a:cs typeface="DejaVu Sans"/>
              </a:rPr>
              <a:t>Amazon E</a:t>
            </a:r>
            <a:r>
              <a:rPr lang="en-US" sz="3600" b="1" dirty="0">
                <a:solidFill>
                  <a:srgbClr val="FFFFFF"/>
                </a:solidFill>
                <a:latin typeface="DejaVu Sans"/>
                <a:ea typeface="DejaVu Sans"/>
                <a:cs typeface="DejaVu Sans"/>
              </a:rPr>
              <a:t>FS</a:t>
            </a:r>
            <a:endParaRPr sz="3600" b="1" dirty="0">
              <a:solidFill>
                <a:srgbClr val="FFFFFF"/>
              </a:solidFill>
              <a:latin typeface="DejaVu Sans"/>
              <a:ea typeface="DejaVu Sans"/>
              <a:cs typeface="DejaVu Sans"/>
            </a:endParaRPr>
          </a:p>
        </p:txBody>
      </p:sp>
      <p:sp>
        <p:nvSpPr>
          <p:cNvPr id="4" name="Rectangle 3">
            <a:extLst>
              <a:ext uri="{FF2B5EF4-FFF2-40B4-BE49-F238E27FC236}">
                <a16:creationId xmlns:a16="http://schemas.microsoft.com/office/drawing/2014/main" id="{8AE3FF7E-47A9-8750-8472-AB553772DCF0}"/>
              </a:ext>
            </a:extLst>
          </p:cNvPr>
          <p:cNvSpPr>
            <a:spLocks noGrp="1"/>
          </p:cNvSpPr>
          <p:nvPr/>
        </p:nvSpPr>
        <p:spPr>
          <a:xfrm>
            <a:off x="714375" y="1381125"/>
            <a:ext cx="6572250" cy="485775"/>
          </a:xfrm>
          <a:prstGeom prst="rect">
            <a:avLst/>
          </a:prstGeom>
          <a:noFill/>
          <a:ln w="0">
            <a:noFill/>
          </a:ln>
        </p:spPr>
        <p:txBody>
          <a:bodyPr>
            <a:noAutofit/>
          </a:bodyPr>
          <a:lstStyle/>
          <a:p>
            <a:pPr>
              <a:buNone/>
              <a:defRPr sz="2325" b="0">
                <a:solidFill>
                  <a:srgbClr val="FFAF48"/>
                </a:solidFill>
                <a:latin typeface="DejaVu Sans"/>
                <a:ea typeface="DejaVu Sans"/>
                <a:cs typeface="DejaVu Sans"/>
              </a:defRPr>
            </a:pPr>
            <a:r>
              <a:rPr lang="en-US" sz="2325" b="0" dirty="0">
                <a:solidFill>
                  <a:srgbClr val="FFAF48"/>
                </a:solidFill>
                <a:latin typeface="DejaVu Sans"/>
                <a:ea typeface="DejaVu Sans"/>
                <a:cs typeface="DejaVu Sans"/>
              </a:rPr>
              <a:t>Storage Tiers &amp; Management</a:t>
            </a:r>
            <a:endParaRPr sz="2325" b="0" dirty="0">
              <a:solidFill>
                <a:srgbClr val="FFAF48"/>
              </a:solidFill>
              <a:latin typeface="DejaVu Sans"/>
              <a:ea typeface="DejaVu Sans"/>
              <a:cs typeface="DejaVu Sans"/>
            </a:endParaRPr>
          </a:p>
        </p:txBody>
      </p:sp>
      <p:sp>
        <p:nvSpPr>
          <p:cNvPr id="6" name="Rectangle 5">
            <a:extLst>
              <a:ext uri="{FF2B5EF4-FFF2-40B4-BE49-F238E27FC236}">
                <a16:creationId xmlns:a16="http://schemas.microsoft.com/office/drawing/2014/main" id="{B939CA54-1BAD-C726-D2FC-A39F72A3D016}"/>
              </a:ext>
            </a:extLst>
          </p:cNvPr>
          <p:cNvSpPr>
            <a:spLocks noGrp="1"/>
          </p:cNvSpPr>
          <p:nvPr/>
        </p:nvSpPr>
        <p:spPr>
          <a:xfrm>
            <a:off x="755650" y="2028031"/>
            <a:ext cx="5689600" cy="476250"/>
          </a:xfrm>
          <a:prstGeom prst="rect">
            <a:avLst/>
          </a:prstGeom>
          <a:noFill/>
          <a:ln w="0">
            <a:noFill/>
          </a:ln>
        </p:spPr>
        <p:txBody>
          <a:bodyPr>
            <a:noAutofit/>
          </a:bodyPr>
          <a:lstStyle/>
          <a:p>
            <a:pPr>
              <a:buNone/>
              <a:defRPr sz="1950" b="1">
                <a:solidFill>
                  <a:srgbClr val="FFFFFF"/>
                </a:solidFill>
                <a:latin typeface="DejaVu Sans"/>
                <a:ea typeface="DejaVu Sans"/>
                <a:cs typeface="DejaVu Sans"/>
              </a:defRPr>
            </a:pPr>
            <a:r>
              <a:rPr lang="en-US" sz="1950" b="1" dirty="0">
                <a:solidFill>
                  <a:srgbClr val="FFFFFF"/>
                </a:solidFill>
                <a:latin typeface="DejaVu Sans"/>
                <a:ea typeface="DejaVu Sans"/>
                <a:cs typeface="DejaVu Sans"/>
              </a:rPr>
              <a:t>Classes</a:t>
            </a:r>
            <a:endParaRPr sz="1950" b="1" dirty="0">
              <a:solidFill>
                <a:srgbClr val="FFFFFF"/>
              </a:solidFill>
              <a:latin typeface="DejaVu Sans"/>
              <a:ea typeface="DejaVu Sans"/>
              <a:cs typeface="DejaVu Sans"/>
            </a:endParaRPr>
          </a:p>
        </p:txBody>
      </p:sp>
      <p:sp>
        <p:nvSpPr>
          <p:cNvPr id="12" name="Rectangle 11">
            <a:extLst>
              <a:ext uri="{FF2B5EF4-FFF2-40B4-BE49-F238E27FC236}">
                <a16:creationId xmlns:a16="http://schemas.microsoft.com/office/drawing/2014/main" id="{582EFE44-CAC7-00B5-DCB9-AA7400F88FA6}"/>
              </a:ext>
            </a:extLst>
          </p:cNvPr>
          <p:cNvSpPr>
            <a:spLocks noGrp="1"/>
          </p:cNvSpPr>
          <p:nvPr/>
        </p:nvSpPr>
        <p:spPr>
          <a:xfrm>
            <a:off x="755650" y="2471341"/>
            <a:ext cx="5238750" cy="619125"/>
          </a:xfrm>
          <a:prstGeom prst="rect">
            <a:avLst/>
          </a:prstGeom>
          <a:noFill/>
          <a:ln w="0">
            <a:noFill/>
          </a:ln>
        </p:spPr>
        <p:txBody>
          <a:bodyPr>
            <a:noAutofit/>
          </a:bodyPr>
          <a:lstStyle/>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Standard</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b="0" dirty="0">
                <a:solidFill>
                  <a:srgbClr val="A8B8C8"/>
                </a:solidFill>
                <a:latin typeface="DejaVu Sans"/>
                <a:ea typeface="DejaVu Sans"/>
                <a:cs typeface="DejaVu Sans"/>
              </a:rPr>
              <a:t>(EFS-IA) Infrequent Acce</a:t>
            </a:r>
            <a:r>
              <a:rPr lang="en-US" sz="1950" dirty="0">
                <a:solidFill>
                  <a:srgbClr val="A8B8C8"/>
                </a:solidFill>
                <a:latin typeface="DejaVu Sans"/>
                <a:ea typeface="DejaVu Sans"/>
                <a:cs typeface="DejaVu Sans"/>
              </a:rPr>
              <a:t>ss</a:t>
            </a:r>
          </a:p>
          <a:p>
            <a:pPr marL="342900" indent="-342900">
              <a:buFontTx/>
              <a:buChar char="-"/>
              <a:defRPr sz="1950" b="0">
                <a:solidFill>
                  <a:srgbClr val="A8B8C8"/>
                </a:solidFill>
                <a:latin typeface="DejaVu Sans"/>
                <a:ea typeface="DejaVu Sans"/>
                <a:cs typeface="DejaVu Sans"/>
              </a:defRPr>
            </a:pPr>
            <a:endParaRPr lang="en-US" sz="195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Archive</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endParaRPr sz="1950" b="0" dirty="0">
              <a:solidFill>
                <a:srgbClr val="A8B8C8"/>
              </a:solidFill>
              <a:latin typeface="DejaVu Sans"/>
              <a:ea typeface="DejaVu Sans"/>
              <a:cs typeface="DejaVu Sans"/>
            </a:endParaRPr>
          </a:p>
        </p:txBody>
      </p:sp>
      <p:sp>
        <p:nvSpPr>
          <p:cNvPr id="14" name="Rectangle 13">
            <a:extLst>
              <a:ext uri="{FF2B5EF4-FFF2-40B4-BE49-F238E27FC236}">
                <a16:creationId xmlns:a16="http://schemas.microsoft.com/office/drawing/2014/main" id="{641FC779-FF2D-9D8F-2C43-A02A3E380AE8}"/>
              </a:ext>
            </a:extLst>
          </p:cNvPr>
          <p:cNvSpPr>
            <a:spLocks noGrp="1"/>
          </p:cNvSpPr>
          <p:nvPr/>
        </p:nvSpPr>
        <p:spPr>
          <a:xfrm>
            <a:off x="762000" y="4010025"/>
            <a:ext cx="5238750" cy="619125"/>
          </a:xfrm>
          <a:prstGeom prst="rect">
            <a:avLst/>
          </a:prstGeom>
          <a:noFill/>
          <a:ln w="0">
            <a:noFill/>
          </a:ln>
        </p:spPr>
        <p:txBody>
          <a:bodyPr>
            <a:noAutofit/>
          </a:bodyPr>
          <a:lstStyle/>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p:txBody>
      </p:sp>
      <p:sp>
        <p:nvSpPr>
          <p:cNvPr id="8" name="Rectangle 7">
            <a:extLst>
              <a:ext uri="{FF2B5EF4-FFF2-40B4-BE49-F238E27FC236}">
                <a16:creationId xmlns:a16="http://schemas.microsoft.com/office/drawing/2014/main" id="{867E5B54-FFAD-DB1D-20E1-2F3835AAE527}"/>
              </a:ext>
            </a:extLst>
          </p:cNvPr>
          <p:cNvSpPr>
            <a:spLocks noGrp="1"/>
          </p:cNvSpPr>
          <p:nvPr/>
        </p:nvSpPr>
        <p:spPr>
          <a:xfrm>
            <a:off x="714375" y="4152900"/>
            <a:ext cx="5689600" cy="476250"/>
          </a:xfrm>
          <a:prstGeom prst="rect">
            <a:avLst/>
          </a:prstGeom>
          <a:noFill/>
          <a:ln w="0">
            <a:noFill/>
          </a:ln>
        </p:spPr>
        <p:txBody>
          <a:bodyPr>
            <a:noAutofit/>
          </a:bodyPr>
          <a:lstStyle/>
          <a:p>
            <a:pPr>
              <a:buNone/>
              <a:defRPr sz="1950" b="1">
                <a:solidFill>
                  <a:srgbClr val="FFFFFF"/>
                </a:solidFill>
                <a:latin typeface="DejaVu Sans"/>
                <a:ea typeface="DejaVu Sans"/>
                <a:cs typeface="DejaVu Sans"/>
              </a:defRPr>
            </a:pPr>
            <a:r>
              <a:rPr lang="en-US" sz="1950" b="1" dirty="0">
                <a:solidFill>
                  <a:srgbClr val="FFFFFF"/>
                </a:solidFill>
                <a:latin typeface="DejaVu Sans"/>
                <a:ea typeface="DejaVu Sans"/>
                <a:cs typeface="DejaVu Sans"/>
              </a:rPr>
              <a:t>Lifecycle Policy</a:t>
            </a:r>
            <a:endParaRPr sz="1950" b="1" dirty="0">
              <a:solidFill>
                <a:srgbClr val="FFFFFF"/>
              </a:solidFill>
              <a:latin typeface="DejaVu Sans"/>
              <a:ea typeface="DejaVu Sans"/>
              <a:cs typeface="DejaVu Sans"/>
            </a:endParaRPr>
          </a:p>
        </p:txBody>
      </p:sp>
      <p:pic>
        <p:nvPicPr>
          <p:cNvPr id="10" name="Picture 9">
            <a:extLst>
              <a:ext uri="{FF2B5EF4-FFF2-40B4-BE49-F238E27FC236}">
                <a16:creationId xmlns:a16="http://schemas.microsoft.com/office/drawing/2014/main" id="{6D624318-8244-F430-A861-60D1D3B6F74F}"/>
              </a:ext>
            </a:extLst>
          </p:cNvPr>
          <p:cNvPicPr>
            <a:picLocks noChangeAspect="1"/>
          </p:cNvPicPr>
          <p:nvPr/>
        </p:nvPicPr>
        <p:blipFill>
          <a:blip r:embed="rId3"/>
          <a:stretch>
            <a:fillRect/>
          </a:stretch>
        </p:blipFill>
        <p:spPr>
          <a:xfrm>
            <a:off x="7387590" y="496411"/>
            <a:ext cx="3834746" cy="570738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3" name="Rectangle 12">
            <a:extLst>
              <a:ext uri="{FF2B5EF4-FFF2-40B4-BE49-F238E27FC236}">
                <a16:creationId xmlns:a16="http://schemas.microsoft.com/office/drawing/2014/main" id="{CB5C2DE0-E81D-EE9D-70CB-DDC2BC879575}"/>
              </a:ext>
            </a:extLst>
          </p:cNvPr>
          <p:cNvSpPr>
            <a:spLocks noGrp="1"/>
          </p:cNvSpPr>
          <p:nvPr/>
        </p:nvSpPr>
        <p:spPr>
          <a:xfrm>
            <a:off x="685800" y="4681538"/>
            <a:ext cx="5238750" cy="619125"/>
          </a:xfrm>
          <a:prstGeom prst="rect">
            <a:avLst/>
          </a:prstGeom>
          <a:noFill/>
          <a:ln w="0">
            <a:noFill/>
          </a:ln>
        </p:spPr>
        <p:txBody>
          <a:bodyPr>
            <a:noAutofit/>
          </a:bodyPr>
          <a:lstStyle/>
          <a:p>
            <a:pPr marL="342900" indent="-342900">
              <a:buFontTx/>
              <a:buChar char="-"/>
              <a:defRPr sz="1950" b="0">
                <a:solidFill>
                  <a:srgbClr val="A8B8C8"/>
                </a:solidFill>
                <a:latin typeface="DejaVu Sans"/>
                <a:ea typeface="DejaVu Sans"/>
                <a:cs typeface="DejaVu Sans"/>
              </a:defRPr>
            </a:pPr>
            <a:r>
              <a:rPr lang="en-US" sz="1950" dirty="0">
                <a:solidFill>
                  <a:srgbClr val="A8B8C8"/>
                </a:solidFill>
                <a:latin typeface="DejaVu Sans"/>
                <a:ea typeface="DejaVu Sans"/>
                <a:cs typeface="DejaVu Sans"/>
              </a:rPr>
              <a:t>Allow for the movement of files</a:t>
            </a:r>
          </a:p>
          <a:p>
            <a:pPr marL="342900" indent="-342900">
              <a:buFontTx/>
              <a:buChar cha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a:defRPr sz="1950" b="0">
                <a:solidFill>
                  <a:srgbClr val="A8B8C8"/>
                </a:solidFill>
                <a:latin typeface="DejaVu Sans"/>
                <a:ea typeface="DejaVu Sans"/>
                <a:cs typeface="DejaVu Sans"/>
              </a:defRPr>
            </a:pPr>
            <a:endParaRPr lang="en-US" sz="1950" b="0" dirty="0">
              <a:solidFill>
                <a:srgbClr val="A8B8C8"/>
              </a:solidFill>
              <a:latin typeface="DejaVu Sans"/>
              <a:ea typeface="DejaVu Sans"/>
              <a:cs typeface="DejaVu Sans"/>
            </a:endParaRPr>
          </a:p>
          <a:p>
            <a:pPr marL="342900" indent="-342900">
              <a:buFontTx/>
              <a:buChar char="-"/>
              <a:defRPr sz="1950" b="0">
                <a:solidFill>
                  <a:srgbClr val="A8B8C8"/>
                </a:solidFill>
                <a:latin typeface="DejaVu Sans"/>
                <a:ea typeface="DejaVu Sans"/>
                <a:cs typeface="DejaVu Sans"/>
              </a:defRPr>
            </a:pPr>
            <a:endParaRPr sz="1950" b="0" dirty="0">
              <a:solidFill>
                <a:srgbClr val="A8B8C8"/>
              </a:solidFill>
              <a:latin typeface="DejaVu Sans"/>
              <a:ea typeface="DejaVu Sans"/>
              <a:cs typeface="DejaVu Sans"/>
            </a:endParaRPr>
          </a:p>
        </p:txBody>
      </p:sp>
    </p:spTree>
    <p:extLst>
      <p:ext uri="{BB962C8B-B14F-4D97-AF65-F5344CB8AC3E}">
        <p14:creationId xmlns:p14="http://schemas.microsoft.com/office/powerpoint/2010/main" val="2010812920"/>
      </p:ext>
    </p:extLst>
  </p:cSld>
  <p:clrMapOvr>
    <a:masterClrMapping/>
  </p:clrMapOvr>
  <mc:AlternateContent xmlns:mc="http://schemas.openxmlformats.org/markup-compatibility/2006" xmlns:p14="http://schemas.microsoft.com/office/powerpoint/2010/main">
    <mc:Choice Requires="p14">
      <p:transition spd="slow" p14:dur="2000" advTm="109496"/>
    </mc:Choice>
    <mc:Fallback xmlns="">
      <p:transition spd="slow" advTm="109496"/>
    </mc:Fallback>
  </mc:AlternateContent>
</p:sld>
</file>

<file path=ppt/theme/theme1.xml><?xml version="1.0" encoding="utf-8"?>
<a:theme xmlns:a="http://schemas.openxmlformats.org/drawingml/2006/main" name="ChatGP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396</Words>
  <Application>Microsoft Office PowerPoint</Application>
  <DocSecurity>0</DocSecurity>
  <PresentationFormat>Widescreen</PresentationFormat>
  <Paragraphs>40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Calibri</vt:lpstr>
      <vt:lpstr>DejaVu Sans</vt:lpstr>
      <vt:lpstr>ChatGPT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Marcin Hoffman</cp:lastModifiedBy>
  <cp:revision>2</cp:revision>
  <dcterms:created xsi:type="dcterms:W3CDTF">2026-09-21T03:09:06Z</dcterms:created>
  <dcterms:modified xsi:type="dcterms:W3CDTF">2026-09-23T02:40:32Z</dcterms:modified>
</cp:coreProperties>
</file>