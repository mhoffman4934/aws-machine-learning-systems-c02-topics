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668" autoAdjust="0"/>
  </p:normalViewPr>
  <p:slideViewPr>
    <p:cSldViewPr snapToGrid="0">
      <p:cViewPr varScale="1">
        <p:scale>
          <a:sx n="87" d="100"/>
          <a:sy n="87" d="100"/>
        </p:scale>
        <p:origin x="14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EBS Volumes are network drives which can be attached to your instances typically using EC2, while the instances are running, The EBS Volumes allow for your instances to save and retrieve data even after your instances are permanently deleted. </a:t>
            </a:r>
            <a:br>
              <a:rPr lang="en-US" dirty="0"/>
            </a:br>
            <a:r>
              <a:rPr lang="en-US" dirty="0"/>
              <a:t>Its easiest to image that you have a computer with a hard drive, and even if something were to happen to the computer, as long as the hard drive remains unharmed you are able to manipulate whatever is on it with a different computer.</a:t>
            </a:r>
          </a:p>
          <a:p>
            <a:r>
              <a:rPr lang="en-US" dirty="0"/>
              <a:t>Now it is still important to note that if your volume configurations are set to delete on termination than you will not be able to retrieve anything, typically seen by default on root volumes. </a:t>
            </a:r>
            <a:br>
              <a:rPr lang="en-US" dirty="0"/>
            </a:br>
            <a:endParaRPr lang="en-US" dirty="0"/>
          </a:p>
          <a:p>
            <a:r>
              <a:rPr lang="en-US" dirty="0"/>
              <a:t>Capacity and Bills are </a:t>
            </a:r>
            <a:r>
              <a:rPr lang="en-US" dirty="0" err="1"/>
              <a:t>measuered</a:t>
            </a:r>
            <a:r>
              <a:rPr lang="en-US" dirty="0"/>
              <a:t> in (input/</a:t>
            </a:r>
            <a:r>
              <a:rPr lang="en-US" dirty="0" err="1"/>
              <a:t>ouput</a:t>
            </a:r>
            <a:r>
              <a:rPr lang="en-US" dirty="0"/>
              <a:t> Operations per second)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EBS offers SSD and HDD storage types for different workloads.</a:t>
            </a:r>
          </a:p>
          <a:p>
            <a:r>
              <a:rPr lang="en-US" b="1" dirty="0"/>
              <a:t>gp2 and gp3</a:t>
            </a:r>
            <a:r>
              <a:rPr lang="en-US" dirty="0"/>
              <a:t> are general-purpose SSDs that balance cost and performance. With gp2, performance depends on volume size. With gp3, you can adjust performance separately from capacity.</a:t>
            </a:r>
          </a:p>
          <a:p>
            <a:r>
              <a:rPr lang="en-US" b="1" dirty="0"/>
              <a:t>io1 and io2 Block Express</a:t>
            </a:r>
            <a:r>
              <a:rPr lang="en-US" dirty="0"/>
              <a:t> are for demanding applications, such as critical databases, that need consistently fast reads and writes. io2 Block Express provides greater durability and lower latency. All io2 volumes now use Block Express.</a:t>
            </a:r>
          </a:p>
          <a:p>
            <a:r>
              <a:rPr lang="en-US" b="1" dirty="0"/>
              <a:t>Throughput Optimized HDD, or st1,</a:t>
            </a:r>
            <a:r>
              <a:rPr lang="en-US" dirty="0"/>
              <a:t> is designed for reading and writing large amounts of sequential data, such as log processing and data warehouses.</a:t>
            </a:r>
          </a:p>
          <a:p>
            <a:r>
              <a:rPr lang="en-US" b="1" dirty="0"/>
              <a:t>Cold HDD, or sc1,</a:t>
            </a:r>
            <a:r>
              <a:rPr lang="en-US" dirty="0"/>
              <a:t> is a lower-cost option for data accessed infrequently, where speed is less important.</a:t>
            </a:r>
          </a:p>
          <a:p>
            <a:r>
              <a:rPr lang="en-US" b="1" dirty="0"/>
              <a:t>Magnetic, or standard,</a:t>
            </a:r>
            <a:r>
              <a:rPr lang="en-US" dirty="0"/>
              <a:t> is an older storage type for small, infrequently accessed datasets with limited performance needs.”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EBS Elastic Volumes are not necessarily a separate feature and are now just the standard method for adjusting performance, capacity and the type of volume that your are using, The idea here is that the AWS console allows you to change these metrics on the fly without having to detach a volume or restart an instance to modify it. All of this can be done through the console while the instances are running</a:t>
            </a:r>
          </a:p>
          <a:p>
            <a:r>
              <a:rPr lang="en-US" dirty="0"/>
              <a:t>For changes in the capacity within the volume you are able to simply increase the disk space as needed, however decreasing capacity is not possible as decreasing a full volume would lead to problems as you can imagine.</a:t>
            </a:r>
          </a:p>
          <a:p>
            <a:r>
              <a:rPr lang="en-US" dirty="0"/>
              <a:t>Regarding changes to volume type your able to simply go in into the console and again change from gp2 to gp3, as well as set your desired performance numbers for IOPS, it is good practice to specifically set your performance as otherwise it will run at the volume type baseline or default setting.</a:t>
            </a:r>
          </a:p>
          <a:p>
            <a:r>
              <a:rPr lang="en-US" dirty="0"/>
              <a:t>The IOPS may be change separately as well like how we talked about changing volume types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1904081-F188-455A-ADF0-F38D9962D680}"/>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02A3ADB3-C087-4233-84DA-63C73D46C918}"/>
              </a:ext>
            </a:extLst>
          </p:cNvPr>
          <p:cNvSpPr>
            <a:spLocks noGrp="1"/>
          </p:cNvSpPr>
          <p:nvPr/>
        </p:nvSpPr>
        <p:spPr>
          <a:xfrm>
            <a:off x="685800" y="1066800"/>
            <a:ext cx="5619750" cy="381000"/>
          </a:xfrm>
          <a:prstGeom prst="rect">
            <a:avLst/>
          </a:prstGeom>
          <a:noFill/>
          <a:ln w="0">
            <a:noFill/>
          </a:ln>
        </p:spPr>
        <p:txBody>
          <a:bodyPr>
            <a:noAutofit/>
          </a:bodyPr>
          <a:lstStyle/>
          <a:p>
            <a:pPr>
              <a:buNone/>
              <a:defRPr sz="1650" b="1">
                <a:solidFill>
                  <a:srgbClr val="FFAF48"/>
                </a:solidFill>
                <a:latin typeface="DejaVu Sans"/>
                <a:ea typeface="DejaVu Sans"/>
                <a:cs typeface="DejaVu Sans"/>
              </a:defRPr>
            </a:pPr>
            <a:r>
              <a:rPr sz="1650" b="1">
                <a:solidFill>
                  <a:srgbClr val="FFAF48"/>
                </a:solidFill>
                <a:latin typeface="DejaVu Sans"/>
                <a:ea typeface="DejaVu Sans"/>
                <a:cs typeface="DejaVu Sans"/>
              </a:rPr>
              <a:t>AMAZON WEB SERVICES</a:t>
            </a:r>
          </a:p>
        </p:txBody>
      </p:sp>
      <p:sp>
        <p:nvSpPr>
          <p:cNvPr id="4" name="Rectangle 3">
            <a:extLst>
              <a:ext uri="{FF2B5EF4-FFF2-40B4-BE49-F238E27FC236}">
                <a16:creationId xmlns:a16="http://schemas.microsoft.com/office/drawing/2014/main" id="{B7757609-747C-446F-8C4E-8BDBD272C241}"/>
              </a:ext>
            </a:extLst>
          </p:cNvPr>
          <p:cNvSpPr>
            <a:spLocks noGrp="1"/>
          </p:cNvSpPr>
          <p:nvPr/>
        </p:nvSpPr>
        <p:spPr>
          <a:xfrm>
            <a:off x="647700" y="1819275"/>
            <a:ext cx="6191250" cy="1838325"/>
          </a:xfrm>
          <a:prstGeom prst="rect">
            <a:avLst/>
          </a:prstGeom>
          <a:noFill/>
          <a:ln w="0">
            <a:noFill/>
          </a:ln>
        </p:spPr>
        <p:txBody>
          <a:bodyPr>
            <a:noAutofit/>
          </a:bodyPr>
          <a:lstStyle/>
          <a:p>
            <a:pPr>
              <a:buNone/>
              <a:defRPr sz="6150" b="1">
                <a:solidFill>
                  <a:srgbClr val="FFFFFF"/>
                </a:solidFill>
                <a:latin typeface="DejaVu Sans"/>
                <a:ea typeface="DejaVu Sans"/>
                <a:cs typeface="DejaVu Sans"/>
              </a:defRPr>
            </a:pPr>
            <a:r>
              <a:rPr lang="en-US" sz="6150" b="1" dirty="0">
                <a:solidFill>
                  <a:srgbClr val="FFFFFF"/>
                </a:solidFill>
                <a:latin typeface="DejaVu Sans"/>
                <a:ea typeface="DejaVu Sans"/>
                <a:cs typeface="DejaVu Sans"/>
              </a:rPr>
              <a:t>Network Storage</a:t>
            </a:r>
            <a:endParaRPr sz="6150" b="1" dirty="0">
              <a:solidFill>
                <a:srgbClr val="FFFFFF"/>
              </a:solidFill>
              <a:latin typeface="DejaVu Sans"/>
              <a:ea typeface="DejaVu Sans"/>
              <a:cs typeface="DejaVu Sans"/>
            </a:endParaRPr>
          </a:p>
        </p:txBody>
      </p:sp>
      <p:sp>
        <p:nvSpPr>
          <p:cNvPr id="5" name="Rectangle 4">
            <a:extLst>
              <a:ext uri="{FF2B5EF4-FFF2-40B4-BE49-F238E27FC236}">
                <a16:creationId xmlns:a16="http://schemas.microsoft.com/office/drawing/2014/main" id="{E9C2F507-5615-4F8A-B7F7-6FC220BB8751}"/>
              </a:ext>
            </a:extLst>
          </p:cNvPr>
          <p:cNvSpPr>
            <a:spLocks noGrp="1"/>
          </p:cNvSpPr>
          <p:nvPr/>
        </p:nvSpPr>
        <p:spPr>
          <a:xfrm>
            <a:off x="685800" y="4038600"/>
            <a:ext cx="6000750" cy="714375"/>
          </a:xfrm>
          <a:prstGeom prst="rect">
            <a:avLst/>
          </a:prstGeom>
          <a:noFill/>
          <a:ln w="0">
            <a:noFill/>
          </a:ln>
        </p:spPr>
        <p:txBody>
          <a:bodyPr>
            <a:noAutofit/>
          </a:bodyPr>
          <a:lstStyle/>
          <a:p>
            <a:pPr>
              <a:buNone/>
              <a:defRPr sz="1875" b="0">
                <a:solidFill>
                  <a:srgbClr val="C4D1DE"/>
                </a:solidFill>
                <a:latin typeface="DejaVu Sans"/>
                <a:ea typeface="DejaVu Sans"/>
                <a:cs typeface="DejaVu Sans"/>
              </a:defRPr>
            </a:pPr>
            <a:r>
              <a:rPr sz="1875" b="0" dirty="0">
                <a:solidFill>
                  <a:srgbClr val="C4D1DE"/>
                </a:solidFill>
                <a:latin typeface="DejaVu Sans"/>
                <a:ea typeface="DejaVu Sans"/>
                <a:cs typeface="DejaVu Sans"/>
              </a:rPr>
              <a:t>EBS / EFS</a:t>
            </a:r>
          </a:p>
        </p:txBody>
      </p:sp>
      <p:sp>
        <p:nvSpPr>
          <p:cNvPr id="6" name="Rectangle 5">
            <a:extLst>
              <a:ext uri="{FF2B5EF4-FFF2-40B4-BE49-F238E27FC236}">
                <a16:creationId xmlns:a16="http://schemas.microsoft.com/office/drawing/2014/main" id="{4C2A27B5-FB4B-471E-9B48-363A6AC79393}"/>
              </a:ext>
            </a:extLst>
          </p:cNvPr>
          <p:cNvSpPr>
            <a:spLocks noGrp="1"/>
          </p:cNvSpPr>
          <p:nvPr/>
        </p:nvSpPr>
        <p:spPr>
          <a:xfrm>
            <a:off x="685800" y="5734050"/>
            <a:ext cx="5905500" cy="400050"/>
          </a:xfrm>
          <a:prstGeom prst="rect">
            <a:avLst/>
          </a:prstGeom>
          <a:noFill/>
          <a:ln w="0">
            <a:noFill/>
          </a:ln>
        </p:spPr>
        <p:txBody>
          <a:bodyPr>
            <a:noAutofit/>
          </a:bodyPr>
          <a:lstStyle/>
          <a:p>
            <a:pPr>
              <a:buNone/>
              <a:defRPr sz="1650" b="0">
                <a:solidFill>
                  <a:srgbClr val="8CA1B5"/>
                </a:solidFill>
                <a:latin typeface="DejaVu Sans"/>
                <a:ea typeface="DejaVu Sans"/>
                <a:cs typeface="DejaVu Sans"/>
              </a:defRPr>
            </a:pPr>
            <a:r>
              <a:rPr sz="1650" b="0" dirty="0">
                <a:solidFill>
                  <a:srgbClr val="8CA1B5"/>
                </a:solidFill>
                <a:latin typeface="DejaVu Sans"/>
                <a:ea typeface="DejaVu Sans"/>
                <a:cs typeface="DejaVu Sans"/>
              </a:rPr>
              <a:t>[</a:t>
            </a:r>
            <a:r>
              <a:rPr lang="en-US" sz="1650" dirty="0">
                <a:solidFill>
                  <a:srgbClr val="8CA1B5"/>
                </a:solidFill>
                <a:latin typeface="DejaVu Sans"/>
                <a:ea typeface="DejaVu Sans"/>
                <a:cs typeface="DejaVu Sans"/>
              </a:rPr>
              <a:t>Marcin Hoffman</a:t>
            </a:r>
            <a:r>
              <a:rPr sz="1650" b="0" dirty="0">
                <a:solidFill>
                  <a:srgbClr val="8CA1B5"/>
                </a:solidFill>
                <a:latin typeface="DejaVu Sans"/>
                <a:ea typeface="DejaVu Sans"/>
                <a:cs typeface="DejaVu Sans"/>
              </a:rPr>
              <a:t>]  / [</a:t>
            </a:r>
            <a:r>
              <a:rPr lang="en-US" sz="1650" b="0" dirty="0" err="1">
                <a:solidFill>
                  <a:srgbClr val="8CA1B5"/>
                </a:solidFill>
                <a:latin typeface="DejaVu Sans"/>
                <a:ea typeface="DejaVu Sans"/>
                <a:cs typeface="DejaVu Sans"/>
              </a:rPr>
              <a:t>Professor:Victor</a:t>
            </a:r>
            <a:r>
              <a:rPr lang="en-US" sz="1650" b="0" dirty="0">
                <a:solidFill>
                  <a:srgbClr val="8CA1B5"/>
                </a:solidFill>
                <a:latin typeface="DejaVu Sans"/>
                <a:ea typeface="DejaVu Sans"/>
                <a:cs typeface="DejaVu Sans"/>
              </a:rPr>
              <a:t> </a:t>
            </a:r>
            <a:r>
              <a:rPr lang="en-US" sz="1650" b="0" dirty="0" err="1">
                <a:solidFill>
                  <a:srgbClr val="8CA1B5"/>
                </a:solidFill>
                <a:latin typeface="DejaVu Sans"/>
                <a:ea typeface="DejaVu Sans"/>
                <a:cs typeface="DejaVu Sans"/>
              </a:rPr>
              <a:t>Govidaswamy</a:t>
            </a:r>
            <a:r>
              <a:rPr sz="1650" b="0" dirty="0">
                <a:solidFill>
                  <a:srgbClr val="8CA1B5"/>
                </a:solidFill>
                <a:latin typeface="DejaVu Sans"/>
                <a:ea typeface="DejaVu Sans"/>
                <a:cs typeface="DejaVu Sans"/>
              </a:rPr>
              <a:t>]</a:t>
            </a:r>
            <a:r>
              <a:rPr lang="en-US" sz="1650" b="0" dirty="0">
                <a:solidFill>
                  <a:srgbClr val="8CA1B5"/>
                </a:solidFill>
                <a:latin typeface="DejaVu Sans"/>
                <a:ea typeface="DejaVu Sans"/>
                <a:cs typeface="DejaVu Sans"/>
              </a:rPr>
              <a:t> / [09/20/2026]</a:t>
            </a:r>
            <a:endParaRPr sz="1650" b="0" dirty="0">
              <a:solidFill>
                <a:srgbClr val="8CA1B5"/>
              </a:solidFill>
              <a:latin typeface="DejaVu Sans"/>
              <a:ea typeface="DejaVu Sans"/>
              <a:cs typeface="DejaVu Sans"/>
            </a:endParaRPr>
          </a:p>
        </p:txBody>
      </p:sp>
    </p:spTree>
    <p:extLst>
      <p:ext uri="{BB962C8B-B14F-4D97-AF65-F5344CB8AC3E}">
        <p14:creationId xmlns:p14="http://schemas.microsoft.com/office/powerpoint/2010/main" val="1206587451"/>
      </p:ext>
    </p:extLst>
  </p:cSld>
  <p:clrMapOvr>
    <a:masterClrMapping/>
  </p:clrMapOvr>
  <mc:AlternateContent xmlns:mc="http://schemas.openxmlformats.org/markup-compatibility/2006" xmlns:p14="http://schemas.microsoft.com/office/powerpoint/2010/main">
    <mc:Choice Requires="p14">
      <p:transition spd="slow" p14:dur="2000" advTm="14131"/>
    </mc:Choice>
    <mc:Fallback xmlns="">
      <p:transition spd="slow" advTm="141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6715125" y="1952625"/>
            <a:ext cx="4572000" cy="4572000"/>
          </a:xfrm>
          <a:prstGeom prst="rect">
            <a:avLst/>
          </a:prstGeom>
        </p:spPr>
      </p:pic>
      <p:sp>
        <p:nvSpPr>
          <p:cNvPr id="2" name="Rectangle 1">
            <a:extLst>
              <a:ext uri="{FF2B5EF4-FFF2-40B4-BE49-F238E27FC236}">
                <a16:creationId xmlns:a16="http://schemas.microsoft.com/office/drawing/2014/main" id="{C88C343B-EAA4-4A84-B40D-76F7B75EFD91}"/>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6BA1DC00-8182-4886-9A83-66DEBD102814}"/>
              </a:ext>
            </a:extLst>
          </p:cNvPr>
          <p:cNvSpPr>
            <a:spLocks noGrp="1"/>
          </p:cNvSpPr>
          <p:nvPr/>
        </p:nvSpPr>
        <p:spPr>
          <a:xfrm>
            <a:off x="685800" y="723900"/>
            <a:ext cx="6477000" cy="7239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Amazon EBS</a:t>
            </a:r>
          </a:p>
        </p:txBody>
      </p:sp>
      <p:sp>
        <p:nvSpPr>
          <p:cNvPr id="4" name="Rectangle 3">
            <a:extLst>
              <a:ext uri="{FF2B5EF4-FFF2-40B4-BE49-F238E27FC236}">
                <a16:creationId xmlns:a16="http://schemas.microsoft.com/office/drawing/2014/main" id="{0ED674F2-8347-4B2A-AE44-79985F4D7531}"/>
              </a:ext>
            </a:extLst>
          </p:cNvPr>
          <p:cNvSpPr>
            <a:spLocks noGrp="1"/>
          </p:cNvSpPr>
          <p:nvPr/>
        </p:nvSpPr>
        <p:spPr>
          <a:xfrm>
            <a:off x="714375" y="1524000"/>
            <a:ext cx="5715000" cy="419100"/>
          </a:xfrm>
          <a:prstGeom prst="rect">
            <a:avLst/>
          </a:prstGeom>
          <a:noFill/>
          <a:ln w="0">
            <a:noFill/>
          </a:ln>
        </p:spPr>
        <p:txBody>
          <a:bodyPr>
            <a:noAutofit/>
          </a:bodyPr>
          <a:lstStyle/>
          <a:p>
            <a:pPr>
              <a:buNone/>
              <a:defRPr sz="1875" b="0">
                <a:solidFill>
                  <a:srgbClr val="FFAF48"/>
                </a:solidFill>
                <a:latin typeface="DejaVu Sans"/>
                <a:ea typeface="DejaVu Sans"/>
                <a:cs typeface="DejaVu Sans"/>
              </a:defRPr>
            </a:pPr>
            <a:r>
              <a:rPr sz="1875" b="0">
                <a:solidFill>
                  <a:srgbClr val="FFAF48"/>
                </a:solidFill>
                <a:latin typeface="DejaVu Sans"/>
                <a:ea typeface="DejaVu Sans"/>
                <a:cs typeface="DejaVu Sans"/>
              </a:rPr>
              <a:t>Elastic Block Store</a:t>
            </a:r>
          </a:p>
        </p:txBody>
      </p:sp>
      <p:sp>
        <p:nvSpPr>
          <p:cNvPr id="5" name="Rectangle 4">
            <a:extLst>
              <a:ext uri="{FF2B5EF4-FFF2-40B4-BE49-F238E27FC236}">
                <a16:creationId xmlns:a16="http://schemas.microsoft.com/office/drawing/2014/main" id="{D76E61F0-4845-41B2-8ECF-8E6BB495C25E}"/>
              </a:ext>
            </a:extLst>
          </p:cNvPr>
          <p:cNvSpPr>
            <a:spLocks noGrp="1"/>
          </p:cNvSpPr>
          <p:nvPr/>
        </p:nvSpPr>
        <p:spPr>
          <a:xfrm>
            <a:off x="685800" y="2124075"/>
            <a:ext cx="504825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r>
              <a:rPr lang="en-US" sz="2250" b="1" dirty="0">
                <a:solidFill>
                  <a:srgbClr val="FFFFFF"/>
                </a:solidFill>
                <a:latin typeface="DejaVu Sans"/>
                <a:ea typeface="DejaVu Sans"/>
                <a:cs typeface="DejaVu Sans"/>
              </a:rPr>
              <a:t>Function</a:t>
            </a:r>
            <a:endParaRPr sz="2250" b="1" dirty="0">
              <a:solidFill>
                <a:srgbClr val="FFFFFF"/>
              </a:solidFill>
              <a:latin typeface="DejaVu Sans"/>
              <a:ea typeface="DejaVu Sans"/>
              <a:cs typeface="DejaVu Sans"/>
            </a:endParaRPr>
          </a:p>
        </p:txBody>
      </p:sp>
      <p:sp>
        <p:nvSpPr>
          <p:cNvPr id="6" name="Rectangle 5">
            <a:extLst>
              <a:ext uri="{FF2B5EF4-FFF2-40B4-BE49-F238E27FC236}">
                <a16:creationId xmlns:a16="http://schemas.microsoft.com/office/drawing/2014/main" id="{85F63C22-F325-46D1-8397-CCD24807E98B}"/>
              </a:ext>
            </a:extLst>
          </p:cNvPr>
          <p:cNvSpPr>
            <a:spLocks noGrp="1"/>
          </p:cNvSpPr>
          <p:nvPr/>
        </p:nvSpPr>
        <p:spPr>
          <a:xfrm>
            <a:off x="685800" y="2638425"/>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Network Drive attached to instances during operations</a:t>
            </a:r>
          </a:p>
          <a:p>
            <a:pP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Persist data</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Locked to Availability Zones</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Network based Communication</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Provisioned Capacity [GBs/IOPS]</a:t>
            </a: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8" name="Rectangle 7">
            <a:extLst>
              <a:ext uri="{FF2B5EF4-FFF2-40B4-BE49-F238E27FC236}">
                <a16:creationId xmlns:a16="http://schemas.microsoft.com/office/drawing/2014/main" id="{DE9A7CC9-D38A-4EB4-9CAF-47402537CA2E}"/>
              </a:ext>
            </a:extLst>
          </p:cNvPr>
          <p:cNvSpPr>
            <a:spLocks noGrp="1"/>
          </p:cNvSpPr>
          <p:nvPr/>
        </p:nvSpPr>
        <p:spPr>
          <a:xfrm>
            <a:off x="685800" y="4381500"/>
            <a:ext cx="5238750" cy="619125"/>
          </a:xfrm>
          <a:prstGeom prst="rect">
            <a:avLst/>
          </a:prstGeom>
          <a:noFill/>
          <a:ln w="0">
            <a:noFill/>
          </a:ln>
        </p:spPr>
        <p:txBody>
          <a:bodyPr>
            <a:noAutofit/>
          </a:bodyPr>
          <a:lstStyle/>
          <a:p>
            <a:pPr>
              <a:buNone/>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13" name="Rectangle 12">
            <a:extLst>
              <a:ext uri="{FF2B5EF4-FFF2-40B4-BE49-F238E27FC236}">
                <a16:creationId xmlns:a16="http://schemas.microsoft.com/office/drawing/2014/main" id="{B5A02258-0737-E008-B3AC-7B5D7623B40A}"/>
              </a:ext>
            </a:extLst>
          </p:cNvPr>
          <p:cNvSpPr>
            <a:spLocks noGrp="1"/>
          </p:cNvSpPr>
          <p:nvPr/>
        </p:nvSpPr>
        <p:spPr>
          <a:xfrm>
            <a:off x="657225" y="3962400"/>
            <a:ext cx="504825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r>
              <a:rPr lang="en-US" sz="2250" b="1" dirty="0">
                <a:solidFill>
                  <a:srgbClr val="FFFFFF"/>
                </a:solidFill>
                <a:latin typeface="DejaVu Sans"/>
                <a:ea typeface="DejaVu Sans"/>
                <a:cs typeface="DejaVu Sans"/>
              </a:rPr>
              <a:t>Restraints</a:t>
            </a:r>
            <a:endParaRPr sz="2250" b="1"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1050850400"/>
      </p:ext>
    </p:extLst>
  </p:cSld>
  <p:clrMapOvr>
    <a:masterClrMapping/>
  </p:clrMapOvr>
  <mc:AlternateContent xmlns:mc="http://schemas.openxmlformats.org/markup-compatibility/2006" xmlns:p14="http://schemas.microsoft.com/office/powerpoint/2010/main">
    <mc:Choice Requires="p14">
      <p:transition spd="slow" p14:dur="2000" advTm="138946"/>
    </mc:Choice>
    <mc:Fallback xmlns="">
      <p:transition spd="slow" advTm="13894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5D4424-032F-4617-A60B-C75F3CBC03D7}"/>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2E542715-7A66-40B0-9946-566F7B2D074D}"/>
              </a:ext>
            </a:extLst>
          </p:cNvPr>
          <p:cNvSpPr>
            <a:spLocks noGrp="1"/>
          </p:cNvSpPr>
          <p:nvPr/>
        </p:nvSpPr>
        <p:spPr>
          <a:xfrm>
            <a:off x="685800" y="609600"/>
            <a:ext cx="6858000" cy="6858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Amazon EBS</a:t>
            </a:r>
          </a:p>
        </p:txBody>
      </p:sp>
      <p:sp>
        <p:nvSpPr>
          <p:cNvPr id="4" name="Rectangle 3">
            <a:extLst>
              <a:ext uri="{FF2B5EF4-FFF2-40B4-BE49-F238E27FC236}">
                <a16:creationId xmlns:a16="http://schemas.microsoft.com/office/drawing/2014/main" id="{55A7132C-7EF4-43A3-B5CE-63558B2EA6ED}"/>
              </a:ext>
            </a:extLst>
          </p:cNvPr>
          <p:cNvSpPr>
            <a:spLocks noGrp="1"/>
          </p:cNvSpPr>
          <p:nvPr/>
        </p:nvSpPr>
        <p:spPr>
          <a:xfrm>
            <a:off x="714375" y="1381125"/>
            <a:ext cx="6572250" cy="485775"/>
          </a:xfrm>
          <a:prstGeom prst="rect">
            <a:avLst/>
          </a:prstGeom>
          <a:noFill/>
          <a:ln w="0">
            <a:noFill/>
          </a:ln>
        </p:spPr>
        <p:txBody>
          <a:bodyPr>
            <a:noAutofit/>
          </a:bodyPr>
          <a:lstStyle/>
          <a:p>
            <a:pPr>
              <a:buNone/>
              <a:defRPr sz="2325" b="0">
                <a:solidFill>
                  <a:srgbClr val="FFAF48"/>
                </a:solidFill>
                <a:latin typeface="DejaVu Sans"/>
                <a:ea typeface="DejaVu Sans"/>
                <a:cs typeface="DejaVu Sans"/>
              </a:defRPr>
            </a:pPr>
            <a:r>
              <a:rPr lang="en-US" sz="2325" b="0" dirty="0">
                <a:solidFill>
                  <a:srgbClr val="FFAF48"/>
                </a:solidFill>
                <a:latin typeface="DejaVu Sans"/>
                <a:ea typeface="DejaVu Sans"/>
                <a:cs typeface="DejaVu Sans"/>
              </a:rPr>
              <a:t>Storage Types</a:t>
            </a:r>
            <a:endParaRPr sz="2325" b="0" dirty="0">
              <a:solidFill>
                <a:srgbClr val="FFAF48"/>
              </a:solidFill>
              <a:latin typeface="DejaVu Sans"/>
              <a:ea typeface="DejaVu Sans"/>
              <a:cs typeface="DejaVu Sans"/>
            </a:endParaRPr>
          </a:p>
        </p:txBody>
      </p:sp>
      <p:sp>
        <p:nvSpPr>
          <p:cNvPr id="6" name="Rectangle 5">
            <a:extLst>
              <a:ext uri="{FF2B5EF4-FFF2-40B4-BE49-F238E27FC236}">
                <a16:creationId xmlns:a16="http://schemas.microsoft.com/office/drawing/2014/main" id="{CE045012-444E-4B48-BA27-22200BDBE457}"/>
              </a:ext>
            </a:extLst>
          </p:cNvPr>
          <p:cNvSpPr>
            <a:spLocks noGrp="1"/>
          </p:cNvSpPr>
          <p:nvPr/>
        </p:nvSpPr>
        <p:spPr>
          <a:xfrm>
            <a:off x="755650" y="2028031"/>
            <a:ext cx="56896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SDD Backed Volumes</a:t>
            </a:r>
            <a:endParaRPr sz="1950" b="1" dirty="0">
              <a:solidFill>
                <a:srgbClr val="FFFFFF"/>
              </a:solidFill>
              <a:latin typeface="DejaVu Sans"/>
              <a:ea typeface="DejaVu Sans"/>
              <a:cs typeface="DejaVu Sans"/>
            </a:endParaRPr>
          </a:p>
        </p:txBody>
      </p:sp>
      <p:sp>
        <p:nvSpPr>
          <p:cNvPr id="7" name="Rectangle 6">
            <a:extLst>
              <a:ext uri="{FF2B5EF4-FFF2-40B4-BE49-F238E27FC236}">
                <a16:creationId xmlns:a16="http://schemas.microsoft.com/office/drawing/2014/main" id="{78D293D4-C15E-4000-996A-102D28328F25}"/>
              </a:ext>
            </a:extLst>
          </p:cNvPr>
          <p:cNvSpPr>
            <a:spLocks noGrp="1"/>
          </p:cNvSpPr>
          <p:nvPr/>
        </p:nvSpPr>
        <p:spPr>
          <a:xfrm>
            <a:off x="762000" y="3533775"/>
            <a:ext cx="52324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HDD Backed Volumes</a:t>
            </a:r>
            <a:endParaRPr sz="1950" b="1" dirty="0">
              <a:solidFill>
                <a:srgbClr val="FFFFFF"/>
              </a:solidFill>
              <a:latin typeface="DejaVu Sans"/>
              <a:ea typeface="DejaVu Sans"/>
              <a:cs typeface="DejaVu Sans"/>
            </a:endParaRPr>
          </a:p>
        </p:txBody>
      </p:sp>
      <p:sp>
        <p:nvSpPr>
          <p:cNvPr id="12" name="Rectangle 11">
            <a:extLst>
              <a:ext uri="{FF2B5EF4-FFF2-40B4-BE49-F238E27FC236}">
                <a16:creationId xmlns:a16="http://schemas.microsoft.com/office/drawing/2014/main" id="{486BC256-6E68-B2E8-51F7-582B5433C462}"/>
              </a:ext>
            </a:extLst>
          </p:cNvPr>
          <p:cNvSpPr>
            <a:spLocks noGrp="1"/>
          </p:cNvSpPr>
          <p:nvPr/>
        </p:nvSpPr>
        <p:spPr>
          <a:xfrm>
            <a:off x="755650" y="2471341"/>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GP2 &amp; GP3</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Io1, Io2 Block Express</a:t>
            </a:r>
            <a:endParaRPr sz="1950" b="0" dirty="0">
              <a:solidFill>
                <a:srgbClr val="A8B8C8"/>
              </a:solidFill>
              <a:latin typeface="DejaVu Sans"/>
              <a:ea typeface="DejaVu Sans"/>
              <a:cs typeface="DejaVu Sans"/>
            </a:endParaRPr>
          </a:p>
        </p:txBody>
      </p:sp>
      <p:sp>
        <p:nvSpPr>
          <p:cNvPr id="14" name="Rectangle 13">
            <a:extLst>
              <a:ext uri="{FF2B5EF4-FFF2-40B4-BE49-F238E27FC236}">
                <a16:creationId xmlns:a16="http://schemas.microsoft.com/office/drawing/2014/main" id="{CB31DA13-04FA-2390-80F5-58DBE8997E14}"/>
              </a:ext>
            </a:extLst>
          </p:cNvPr>
          <p:cNvSpPr>
            <a:spLocks noGrp="1"/>
          </p:cNvSpPr>
          <p:nvPr/>
        </p:nvSpPr>
        <p:spPr>
          <a:xfrm>
            <a:off x="762000" y="4010025"/>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Throughput Optimized HDD(st1)</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Cold HDD (sc1)</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Magnetic </a:t>
            </a:r>
            <a:r>
              <a:rPr lang="en-US" sz="1950" dirty="0" err="1">
                <a:solidFill>
                  <a:srgbClr val="A8B8C8"/>
                </a:solidFill>
                <a:latin typeface="DejaVu Sans"/>
                <a:ea typeface="DejaVu Sans"/>
                <a:cs typeface="DejaVu Sans"/>
              </a:rPr>
              <a:t>Standerd</a:t>
            </a:r>
            <a:endParaRPr lang="en-US" sz="1950" b="0" dirty="0">
              <a:solidFill>
                <a:srgbClr val="A8B8C8"/>
              </a:solidFill>
              <a:latin typeface="DejaVu Sans"/>
              <a:ea typeface="DejaVu Sans"/>
              <a:cs typeface="DejaVu Sans"/>
            </a:endParaRPr>
          </a:p>
        </p:txBody>
      </p:sp>
      <p:pic>
        <p:nvPicPr>
          <p:cNvPr id="16" name="Picture 15">
            <a:extLst>
              <a:ext uri="{FF2B5EF4-FFF2-40B4-BE49-F238E27FC236}">
                <a16:creationId xmlns:a16="http://schemas.microsoft.com/office/drawing/2014/main" id="{F7A801DD-EC40-858C-CA7C-1E6C0E4D5D11}"/>
              </a:ext>
            </a:extLst>
          </p:cNvPr>
          <p:cNvPicPr>
            <a:picLocks noChangeAspect="1"/>
          </p:cNvPicPr>
          <p:nvPr/>
        </p:nvPicPr>
        <p:blipFill>
          <a:blip r:embed="rId3"/>
          <a:stretch>
            <a:fillRect/>
          </a:stretch>
        </p:blipFill>
        <p:spPr>
          <a:xfrm>
            <a:off x="7048500" y="0"/>
            <a:ext cx="4572000" cy="6858000"/>
          </a:xfrm>
          <a:prstGeom prst="rect">
            <a:avLst/>
          </a:prstGeom>
        </p:spPr>
      </p:pic>
    </p:spTree>
    <p:extLst>
      <p:ext uri="{BB962C8B-B14F-4D97-AF65-F5344CB8AC3E}">
        <p14:creationId xmlns:p14="http://schemas.microsoft.com/office/powerpoint/2010/main" val="132397821"/>
      </p:ext>
    </p:extLst>
  </p:cSld>
  <p:clrMapOvr>
    <a:masterClrMapping/>
  </p:clrMapOvr>
  <mc:AlternateContent xmlns:mc="http://schemas.openxmlformats.org/markup-compatibility/2006" xmlns:p14="http://schemas.microsoft.com/office/powerpoint/2010/main">
    <mc:Choice Requires="p14">
      <p:transition spd="slow" p14:dur="2000" advTm="109088"/>
    </mc:Choice>
    <mc:Fallback xmlns="">
      <p:transition spd="slow" advTm="10908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5876924" y="381000"/>
            <a:ext cx="6162675" cy="6162675"/>
          </a:xfrm>
          <a:prstGeom prst="rect">
            <a:avLst/>
          </a:prstGeom>
        </p:spPr>
      </p:pic>
      <p:sp>
        <p:nvSpPr>
          <p:cNvPr id="2" name="Rectangle 1">
            <a:extLst>
              <a:ext uri="{FF2B5EF4-FFF2-40B4-BE49-F238E27FC236}">
                <a16:creationId xmlns:a16="http://schemas.microsoft.com/office/drawing/2014/main" id="{6D8F1DA2-1BAE-4C04-AB62-591768461D7D}"/>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47948E1C-DAAF-4E4E-9686-D7AFA65E9D62}"/>
              </a:ext>
            </a:extLst>
          </p:cNvPr>
          <p:cNvSpPr>
            <a:spLocks noGrp="1"/>
          </p:cNvSpPr>
          <p:nvPr/>
        </p:nvSpPr>
        <p:spPr>
          <a:xfrm>
            <a:off x="685800" y="723900"/>
            <a:ext cx="10763250" cy="7239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EBS Elastic Volumes</a:t>
            </a:r>
          </a:p>
        </p:txBody>
      </p:sp>
      <p:sp>
        <p:nvSpPr>
          <p:cNvPr id="4" name="Rectangle 3">
            <a:extLst>
              <a:ext uri="{FF2B5EF4-FFF2-40B4-BE49-F238E27FC236}">
                <a16:creationId xmlns:a16="http://schemas.microsoft.com/office/drawing/2014/main" id="{8A8312D9-1E71-4FE0-A78A-606CC3BFC0F6}"/>
              </a:ext>
            </a:extLst>
          </p:cNvPr>
          <p:cNvSpPr>
            <a:spLocks noGrp="1"/>
          </p:cNvSpPr>
          <p:nvPr/>
        </p:nvSpPr>
        <p:spPr>
          <a:xfrm>
            <a:off x="714375" y="1524000"/>
            <a:ext cx="5334000" cy="419100"/>
          </a:xfrm>
          <a:prstGeom prst="rect">
            <a:avLst/>
          </a:prstGeom>
          <a:noFill/>
          <a:ln w="0">
            <a:noFill/>
          </a:ln>
        </p:spPr>
        <p:txBody>
          <a:bodyPr>
            <a:noAutofit/>
          </a:bodyPr>
          <a:lstStyle/>
          <a:p>
            <a:pPr>
              <a:buNone/>
              <a:defRPr sz="2025" b="0">
                <a:solidFill>
                  <a:srgbClr val="FFAF48"/>
                </a:solidFill>
                <a:latin typeface="DejaVu Sans"/>
                <a:ea typeface="DejaVu Sans"/>
                <a:cs typeface="DejaVu Sans"/>
              </a:defRPr>
            </a:pPr>
            <a:r>
              <a:rPr sz="2025" b="0" dirty="0">
                <a:solidFill>
                  <a:srgbClr val="FFAF48"/>
                </a:solidFill>
                <a:latin typeface="DejaVu Sans"/>
                <a:ea typeface="DejaVu Sans"/>
                <a:cs typeface="DejaVu Sans"/>
              </a:rPr>
              <a:t>Volume </a:t>
            </a:r>
            <a:r>
              <a:rPr lang="en-US" sz="2025" b="0" dirty="0">
                <a:solidFill>
                  <a:srgbClr val="FFAF48"/>
                </a:solidFill>
                <a:latin typeface="DejaVu Sans"/>
                <a:ea typeface="DejaVu Sans"/>
                <a:cs typeface="DejaVu Sans"/>
              </a:rPr>
              <a:t>Configurations</a:t>
            </a:r>
            <a:endParaRPr sz="2025" b="0" dirty="0">
              <a:solidFill>
                <a:srgbClr val="FFAF48"/>
              </a:solidFill>
              <a:latin typeface="DejaVu Sans"/>
              <a:ea typeface="DejaVu Sans"/>
              <a:cs typeface="DejaVu Sans"/>
            </a:endParaRPr>
          </a:p>
        </p:txBody>
      </p:sp>
      <p:sp>
        <p:nvSpPr>
          <p:cNvPr id="6" name="Rectangle 5">
            <a:extLst>
              <a:ext uri="{FF2B5EF4-FFF2-40B4-BE49-F238E27FC236}">
                <a16:creationId xmlns:a16="http://schemas.microsoft.com/office/drawing/2014/main" id="{85486641-2137-4E24-8697-66D195F4F9D5}"/>
              </a:ext>
            </a:extLst>
          </p:cNvPr>
          <p:cNvSpPr>
            <a:spLocks noGrp="1"/>
          </p:cNvSpPr>
          <p:nvPr/>
        </p:nvSpPr>
        <p:spPr>
          <a:xfrm>
            <a:off x="685800" y="2552700"/>
            <a:ext cx="5334000" cy="447675"/>
          </a:xfrm>
          <a:prstGeom prst="rect">
            <a:avLst/>
          </a:prstGeom>
          <a:noFill/>
          <a:ln w="0">
            <a:noFill/>
          </a:ln>
        </p:spPr>
        <p:txBody>
          <a:bodyPr>
            <a:noAutofit/>
          </a:bodyPr>
          <a:lstStyle/>
          <a:p>
            <a:pPr>
              <a:buNone/>
              <a:defRPr sz="2400" b="1">
                <a:solidFill>
                  <a:srgbClr val="FFFFFF"/>
                </a:solidFill>
                <a:latin typeface="DejaVu Sans"/>
                <a:ea typeface="DejaVu Sans"/>
                <a:cs typeface="DejaVu Sans"/>
              </a:defRPr>
            </a:pPr>
            <a:r>
              <a:rPr lang="en-US" sz="2400" b="1" dirty="0">
                <a:solidFill>
                  <a:srgbClr val="FFFFFF"/>
                </a:solidFill>
                <a:latin typeface="DejaVu Sans"/>
                <a:ea typeface="DejaVu Sans"/>
                <a:cs typeface="DejaVu Sans"/>
              </a:rPr>
              <a:t>-</a:t>
            </a:r>
            <a:r>
              <a:rPr sz="2400" b="1" dirty="0">
                <a:solidFill>
                  <a:srgbClr val="FFFFFF"/>
                </a:solidFill>
                <a:latin typeface="DejaVu Sans"/>
                <a:ea typeface="DejaVu Sans"/>
                <a:cs typeface="DejaVu Sans"/>
              </a:rPr>
              <a:t>Capacity</a:t>
            </a:r>
          </a:p>
        </p:txBody>
      </p:sp>
      <p:sp>
        <p:nvSpPr>
          <p:cNvPr id="8" name="Rectangle 7">
            <a:extLst>
              <a:ext uri="{FF2B5EF4-FFF2-40B4-BE49-F238E27FC236}">
                <a16:creationId xmlns:a16="http://schemas.microsoft.com/office/drawing/2014/main" id="{A3DBC752-17B4-4230-889A-ADF944CF40D6}"/>
              </a:ext>
            </a:extLst>
          </p:cNvPr>
          <p:cNvSpPr>
            <a:spLocks noGrp="1"/>
          </p:cNvSpPr>
          <p:nvPr/>
        </p:nvSpPr>
        <p:spPr>
          <a:xfrm>
            <a:off x="685800" y="3529012"/>
            <a:ext cx="5334000" cy="447675"/>
          </a:xfrm>
          <a:prstGeom prst="rect">
            <a:avLst/>
          </a:prstGeom>
          <a:noFill/>
          <a:ln w="0">
            <a:noFill/>
          </a:ln>
        </p:spPr>
        <p:txBody>
          <a:bodyPr>
            <a:noAutofit/>
          </a:bodyPr>
          <a:lstStyle/>
          <a:p>
            <a:pPr>
              <a:buNone/>
              <a:defRPr sz="2400" b="1">
                <a:solidFill>
                  <a:srgbClr val="FFFFFF"/>
                </a:solidFill>
                <a:latin typeface="DejaVu Sans"/>
                <a:ea typeface="DejaVu Sans"/>
                <a:cs typeface="DejaVu Sans"/>
              </a:defRPr>
            </a:pPr>
            <a:r>
              <a:rPr lang="en-US" sz="2400" b="1" dirty="0">
                <a:solidFill>
                  <a:srgbClr val="FFFFFF"/>
                </a:solidFill>
                <a:latin typeface="DejaVu Sans"/>
                <a:ea typeface="DejaVu Sans"/>
                <a:cs typeface="DejaVu Sans"/>
              </a:rPr>
              <a:t>-</a:t>
            </a:r>
            <a:r>
              <a:rPr sz="2400" b="1" dirty="0">
                <a:solidFill>
                  <a:srgbClr val="FFFFFF"/>
                </a:solidFill>
                <a:latin typeface="DejaVu Sans"/>
                <a:ea typeface="DejaVu Sans"/>
                <a:cs typeface="DejaVu Sans"/>
              </a:rPr>
              <a:t>Performance</a:t>
            </a:r>
          </a:p>
        </p:txBody>
      </p:sp>
      <p:sp>
        <p:nvSpPr>
          <p:cNvPr id="10" name="Rectangle 9">
            <a:extLst>
              <a:ext uri="{FF2B5EF4-FFF2-40B4-BE49-F238E27FC236}">
                <a16:creationId xmlns:a16="http://schemas.microsoft.com/office/drawing/2014/main" id="{705E4E0A-517E-4AE1-BA24-D81EA95B1594}"/>
              </a:ext>
            </a:extLst>
          </p:cNvPr>
          <p:cNvSpPr>
            <a:spLocks noGrp="1"/>
          </p:cNvSpPr>
          <p:nvPr/>
        </p:nvSpPr>
        <p:spPr>
          <a:xfrm>
            <a:off x="685800" y="4505324"/>
            <a:ext cx="5334000" cy="447675"/>
          </a:xfrm>
          <a:prstGeom prst="rect">
            <a:avLst/>
          </a:prstGeom>
          <a:noFill/>
          <a:ln w="0">
            <a:noFill/>
          </a:ln>
        </p:spPr>
        <p:txBody>
          <a:bodyPr>
            <a:noAutofit/>
          </a:bodyPr>
          <a:lstStyle/>
          <a:p>
            <a:pPr>
              <a:buNone/>
              <a:defRPr sz="2400" b="1">
                <a:solidFill>
                  <a:srgbClr val="FFFFFF"/>
                </a:solidFill>
                <a:latin typeface="DejaVu Sans"/>
                <a:ea typeface="DejaVu Sans"/>
                <a:cs typeface="DejaVu Sans"/>
              </a:defRPr>
            </a:pPr>
            <a:r>
              <a:rPr lang="en-US" sz="2400" b="1" dirty="0">
                <a:solidFill>
                  <a:srgbClr val="FFFFFF"/>
                </a:solidFill>
                <a:latin typeface="DejaVu Sans"/>
                <a:ea typeface="DejaVu Sans"/>
                <a:cs typeface="DejaVu Sans"/>
              </a:rPr>
              <a:t>-</a:t>
            </a:r>
            <a:r>
              <a:rPr sz="2400" b="1" dirty="0">
                <a:solidFill>
                  <a:srgbClr val="FFFFFF"/>
                </a:solidFill>
                <a:latin typeface="DejaVu Sans"/>
                <a:ea typeface="DejaVu Sans"/>
                <a:cs typeface="DejaVu Sans"/>
              </a:rPr>
              <a:t>Volume type</a:t>
            </a:r>
          </a:p>
        </p:txBody>
      </p:sp>
    </p:spTree>
    <p:extLst>
      <p:ext uri="{BB962C8B-B14F-4D97-AF65-F5344CB8AC3E}">
        <p14:creationId xmlns:p14="http://schemas.microsoft.com/office/powerpoint/2010/main" val="920401694"/>
      </p:ext>
    </p:extLst>
  </p:cSld>
  <p:clrMapOvr>
    <a:masterClrMapping/>
  </p:clrMapOvr>
  <mc:AlternateContent xmlns:mc="http://schemas.openxmlformats.org/markup-compatibility/2006" xmlns:p14="http://schemas.microsoft.com/office/powerpoint/2010/main">
    <mc:Choice Requires="p14">
      <p:transition spd="slow" p14:dur="2000" advTm="96127"/>
    </mc:Choice>
    <mc:Fallback xmlns="">
      <p:transition spd="slow" advTm="96127"/>
    </mc:Fallback>
  </mc:AlternateContent>
</p:sld>
</file>

<file path=ppt/theme/theme1.xml><?xml version="1.0" encoding="utf-8"?>
<a:theme xmlns:a="http://schemas.openxmlformats.org/drawingml/2006/main" name="ChatGP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581</Words>
  <Application>Microsoft Office PowerPoint</Application>
  <DocSecurity>0</DocSecurity>
  <PresentationFormat>Widescreen</PresentationFormat>
  <Paragraphs>48</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Calibri</vt:lpstr>
      <vt:lpstr>DejaVu Sans</vt:lpstr>
      <vt:lpstr>ChatGPT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Marcin Hoffman</cp:lastModifiedBy>
  <cp:revision>2</cp:revision>
  <dcterms:created xsi:type="dcterms:W3CDTF">2026-09-21T03:09:06Z</dcterms:created>
  <dcterms:modified xsi:type="dcterms:W3CDTF">2026-09-23T02:43:25Z</dcterms:modified>
</cp:coreProperties>
</file>