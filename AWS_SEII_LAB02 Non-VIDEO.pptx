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68" autoAdjust="0"/>
  </p:normalViewPr>
  <p:slideViewPr>
    <p:cSldViewPr snapToGrid="0">
      <p:cViewPr varScale="1">
        <p:scale>
          <a:sx n="125" d="100"/>
          <a:sy n="125" d="100"/>
        </p:scale>
        <p:origin x="16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EBS Volumes are network drives which can be attached to your instances typically using EC2, while the instances are running, The EBS Volumes allow for your instances to save and retrieve data even after your instances are permanently deleted. </a:t>
            </a:r>
            <a:br>
              <a:rPr lang="en-US" dirty="0"/>
            </a:br>
            <a:r>
              <a:rPr lang="en-US" dirty="0"/>
              <a:t>Its easiest to image that you have a computer with a hard drive, and even if something were to happen to the computer, as long as the hard drive remains unharmed you are able to manipulate whatever is on it with a different computer.</a:t>
            </a:r>
          </a:p>
          <a:p>
            <a:r>
              <a:rPr lang="en-US" dirty="0"/>
              <a:t>Now it is still important to note that if your volume configurations are set to delete on termination than you will not be able to retrieve anything, typically seen by default on root volumes. </a:t>
            </a:r>
            <a:br>
              <a:rPr lang="en-US" dirty="0"/>
            </a:br>
            <a:endParaRPr lang="en-US" dirty="0"/>
          </a:p>
          <a:p>
            <a:r>
              <a:rPr lang="en-US" dirty="0"/>
              <a:t>Capacity and Bills are </a:t>
            </a:r>
            <a:r>
              <a:rPr lang="en-US" dirty="0" err="1"/>
              <a:t>measuered</a:t>
            </a:r>
            <a:r>
              <a:rPr lang="en-US" dirty="0"/>
              <a:t> in (input/</a:t>
            </a:r>
            <a:r>
              <a:rPr lang="en-US" dirty="0" err="1"/>
              <a:t>ouput</a:t>
            </a:r>
            <a:r>
              <a:rPr lang="en-US" dirty="0"/>
              <a:t> Operations per second)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EBS offers SSD and HDD storage types for different workloads.</a:t>
            </a:r>
          </a:p>
          <a:p>
            <a:r>
              <a:rPr lang="en-US" b="1" dirty="0"/>
              <a:t>gp2 and gp3</a:t>
            </a:r>
            <a:r>
              <a:rPr lang="en-US" dirty="0"/>
              <a:t> are general-purpose SSDs that balance cost and performance. With gp2, performance depends on volume size. With gp3, you can adjust performance separately from capacity.</a:t>
            </a:r>
          </a:p>
          <a:p>
            <a:r>
              <a:rPr lang="en-US" b="1" dirty="0"/>
              <a:t>io1 and io2 Block Express</a:t>
            </a:r>
            <a:r>
              <a:rPr lang="en-US" dirty="0"/>
              <a:t> are for demanding applications, such as critical databases, that need consistently fast reads and writes. io2 Block Express provides greater durability and lower latency. All io2 volumes now use Block Express.</a:t>
            </a:r>
          </a:p>
          <a:p>
            <a:r>
              <a:rPr lang="en-US" b="1" dirty="0"/>
              <a:t>Throughput Optimized HDD, or st1,</a:t>
            </a:r>
            <a:r>
              <a:rPr lang="en-US" dirty="0"/>
              <a:t> is designed for reading and writing large amounts of sequential data, such as log processing and data warehouses.</a:t>
            </a:r>
          </a:p>
          <a:p>
            <a:r>
              <a:rPr lang="en-US" b="1" dirty="0"/>
              <a:t>Cold HDD, or sc1,</a:t>
            </a:r>
            <a:r>
              <a:rPr lang="en-US" dirty="0"/>
              <a:t> is a lower-cost option for data accessed infrequently, where speed is less important.</a:t>
            </a:r>
          </a:p>
          <a:p>
            <a:r>
              <a:rPr lang="en-US" b="1" dirty="0"/>
              <a:t>Magnetic, or standard,</a:t>
            </a:r>
            <a:r>
              <a:rPr lang="en-US" dirty="0"/>
              <a:t> is an older storage type for small, infrequently accessed datasets with limited performance needs.”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EBS Elastic Volumes are not necessarily a separate feature and are now just the standard method for adjusting performance, capacity and the type of volume that your are using, The idea here is that the AWS console allows you to change these metrics on the fly without having to detach a volume or restart an instance to modify it. All of this can be done through the console while the instances are running</a:t>
            </a:r>
          </a:p>
          <a:p>
            <a:r>
              <a:rPr lang="en-US" dirty="0"/>
              <a:t>For changes in the capacity within the volume you are able to simply increase the disk space as needed, however decreasing capacity is not possible as decreasing a full volume would lead to problems as you can imagine.</a:t>
            </a:r>
          </a:p>
          <a:p>
            <a:r>
              <a:rPr lang="en-US" dirty="0"/>
              <a:t>Regarding changes to volume type your able to simply go in into the console and again change from gp2 to gp3, as well as set your desired performance numbers for IOPS, it is good practice to specifically set your performance as otherwise it will run at the volume type baseline or default setting.</a:t>
            </a:r>
          </a:p>
          <a:p>
            <a:r>
              <a:rPr lang="en-US" dirty="0"/>
              <a:t>The IOPS may be change separately as well like how we talked about changing volume types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take a look at Amazons EFS or Elastic File System</a:t>
            </a:r>
          </a:p>
          <a:p>
            <a:r>
              <a:rPr lang="en-US" dirty="0"/>
              <a:t>EFS is a Managed Network File System that you are able to attach to almost any EC2 instance. In contrast to EBS you are able to attach these files through multiple different availability zones.</a:t>
            </a:r>
          </a:p>
          <a:p>
            <a:r>
              <a:rPr lang="en-US" dirty="0"/>
              <a:t>When using your EFS system, it will be surrounded by a Security Group which essentially acts as a virtual firewall, it will allow for you to better manage the resources that allowed or not allowed to connect to your EFS, it handles incoming and outgoing traffic through </a:t>
            </a:r>
            <a:r>
              <a:rPr lang="en-US" dirty="0" err="1"/>
              <a:t>ip</a:t>
            </a:r>
            <a:r>
              <a:rPr lang="en-US" dirty="0"/>
              <a:t> addresses, protocols </a:t>
            </a:r>
            <a:r>
              <a:rPr lang="en-US" dirty="0" err="1"/>
              <a:t>etc</a:t>
            </a:r>
            <a:endParaRPr lang="en-US" dirty="0"/>
          </a:p>
          <a:p>
            <a:r>
              <a:rPr lang="en-US" dirty="0"/>
              <a:t>In addition the EFS uses the NFSv4.1 protocol, which is what allows your EFS files to be accessed over a network as if they were stored locally, essentially what allows for the use of multiple EC2 instances without problems.</a:t>
            </a:r>
          </a:p>
          <a:p>
            <a:endParaRPr lang="en-US" dirty="0"/>
          </a:p>
          <a:p>
            <a:r>
              <a:rPr lang="en-US" dirty="0"/>
              <a:t>The biggest problems you will see with EFS is that it is three times as expensive as the EBS gp2 storage we mentioned before.  </a:t>
            </a:r>
          </a:p>
          <a:p>
            <a:r>
              <a:rPr lang="en-US" dirty="0"/>
              <a:t>Also </a:t>
            </a:r>
            <a:r>
              <a:rPr lang="en-US" dirty="0" err="1"/>
              <a:t>Efs</a:t>
            </a:r>
            <a:r>
              <a:rPr lang="en-US" dirty="0"/>
              <a:t> is not compatible with windows and is only for Linux based workloads, it uses the POSIX file system where Linux applications are able to use familiar operations and permissions. </a:t>
            </a:r>
          </a:p>
          <a:p>
            <a:endParaRPr lang="en-US" dirty="0"/>
          </a:p>
          <a:p>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1B888-B2A1-F3F2-C3A7-C8033A684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79258-9E43-46D0-1F02-C273C7900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F0F8F-81C4-4AD5-2ACE-893205825195}"/>
              </a:ext>
            </a:extLst>
          </p:cNvPr>
          <p:cNvSpPr>
            <a:spLocks noGrp="1"/>
          </p:cNvSpPr>
          <p:nvPr>
            <p:ph type="body" idx="1"/>
          </p:nvPr>
        </p:nvSpPr>
        <p:spPr/>
        <p:txBody>
          <a:bodyPr/>
          <a:lstStyle/>
          <a:p>
            <a:r>
              <a:rPr lang="en-US" dirty="0"/>
              <a:t>“Amazon EFS offers three storage classes to balance performance and cost.</a:t>
            </a:r>
          </a:p>
          <a:p>
            <a:r>
              <a:rPr lang="en-US" b="1" dirty="0"/>
              <a:t>Standard</a:t>
            </a:r>
            <a:r>
              <a:rPr lang="en-US" dirty="0"/>
              <a:t> is for frequently accessed files that need fast access.</a:t>
            </a:r>
          </a:p>
          <a:p>
            <a:r>
              <a:rPr lang="en-US" b="1" dirty="0"/>
              <a:t>Infrequent Access, or EFS-IA,</a:t>
            </a:r>
            <a:r>
              <a:rPr lang="en-US" dirty="0"/>
              <a:t> reduces storage costs for files used only occasionally.</a:t>
            </a:r>
          </a:p>
          <a:p>
            <a:r>
              <a:rPr lang="en-US" b="1" dirty="0"/>
              <a:t>Archive</a:t>
            </a:r>
            <a:r>
              <a:rPr lang="en-US" dirty="0"/>
              <a:t> offers even lower storage costs for files that are rarely accessed. Both IA and Archive have additional data-access charges, so they suit less active data.</a:t>
            </a:r>
          </a:p>
          <a:p>
            <a:r>
              <a:rPr lang="en-US" b="1" dirty="0"/>
              <a:t>Lifecycle policies</a:t>
            </a:r>
            <a:r>
              <a:rPr lang="en-US" dirty="0"/>
              <a:t> automatically move files between these classes based on how long they have gone without being accessed. For example, you could move inactive files to IA after 30 days and Archive after 90 days. You can also enable a policy that moves them back to Standard when accessed again.”</a:t>
            </a:r>
          </a:p>
          <a:p>
            <a:endParaRPr lang="en-US" dirty="0"/>
          </a:p>
        </p:txBody>
      </p:sp>
      <p:sp>
        <p:nvSpPr>
          <p:cNvPr id="4" name="Slide Number Placeholder 3">
            <a:extLst>
              <a:ext uri="{FF2B5EF4-FFF2-40B4-BE49-F238E27FC236}">
                <a16:creationId xmlns:a16="http://schemas.microsoft.com/office/drawing/2014/main" id="{5EC532D9-862A-1978-895A-DE9E300B3EF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43432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1904081-F188-455A-ADF0-F38D9962D680}"/>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02A3ADB3-C087-4233-84DA-63C73D46C918}"/>
              </a:ext>
            </a:extLst>
          </p:cNvPr>
          <p:cNvSpPr>
            <a:spLocks noGrp="1"/>
          </p:cNvSpPr>
          <p:nvPr/>
        </p:nvSpPr>
        <p:spPr>
          <a:xfrm>
            <a:off x="685800" y="1066800"/>
            <a:ext cx="5619750" cy="381000"/>
          </a:xfrm>
          <a:prstGeom prst="rect">
            <a:avLst/>
          </a:prstGeom>
          <a:noFill/>
          <a:ln w="0">
            <a:noFill/>
          </a:ln>
        </p:spPr>
        <p:txBody>
          <a:bodyPr>
            <a:noAutofit/>
          </a:bodyPr>
          <a:lstStyle/>
          <a:p>
            <a:pPr>
              <a:buNone/>
              <a:defRPr sz="1650" b="1">
                <a:solidFill>
                  <a:srgbClr val="FFAF48"/>
                </a:solidFill>
                <a:latin typeface="DejaVu Sans"/>
                <a:ea typeface="DejaVu Sans"/>
                <a:cs typeface="DejaVu Sans"/>
              </a:defRPr>
            </a:pPr>
            <a:r>
              <a:rPr sz="1650" b="1">
                <a:solidFill>
                  <a:srgbClr val="FFAF48"/>
                </a:solidFill>
                <a:latin typeface="DejaVu Sans"/>
                <a:ea typeface="DejaVu Sans"/>
                <a:cs typeface="DejaVu Sans"/>
              </a:rPr>
              <a:t>AMAZON WEB SERVICES</a:t>
            </a:r>
          </a:p>
        </p:txBody>
      </p:sp>
      <p:sp>
        <p:nvSpPr>
          <p:cNvPr id="4" name="Rectangle 3">
            <a:extLst>
              <a:ext uri="{FF2B5EF4-FFF2-40B4-BE49-F238E27FC236}">
                <a16:creationId xmlns:a16="http://schemas.microsoft.com/office/drawing/2014/main" id="{B7757609-747C-446F-8C4E-8BDBD272C241}"/>
              </a:ext>
            </a:extLst>
          </p:cNvPr>
          <p:cNvSpPr>
            <a:spLocks noGrp="1"/>
          </p:cNvSpPr>
          <p:nvPr/>
        </p:nvSpPr>
        <p:spPr>
          <a:xfrm>
            <a:off x="647700" y="1819275"/>
            <a:ext cx="6191250" cy="1838325"/>
          </a:xfrm>
          <a:prstGeom prst="rect">
            <a:avLst/>
          </a:prstGeom>
          <a:noFill/>
          <a:ln w="0">
            <a:noFill/>
          </a:ln>
        </p:spPr>
        <p:txBody>
          <a:bodyPr>
            <a:noAutofit/>
          </a:bodyPr>
          <a:lstStyle/>
          <a:p>
            <a:pPr>
              <a:buNone/>
              <a:defRPr sz="6150" b="1">
                <a:solidFill>
                  <a:srgbClr val="FFFFFF"/>
                </a:solidFill>
                <a:latin typeface="DejaVu Sans"/>
                <a:ea typeface="DejaVu Sans"/>
                <a:cs typeface="DejaVu Sans"/>
              </a:defRPr>
            </a:pPr>
            <a:r>
              <a:rPr lang="en-US" sz="6150" b="1" dirty="0">
                <a:solidFill>
                  <a:srgbClr val="FFFFFF"/>
                </a:solidFill>
                <a:latin typeface="DejaVu Sans"/>
                <a:ea typeface="DejaVu Sans"/>
                <a:cs typeface="DejaVu Sans"/>
              </a:rPr>
              <a:t>Network Storage</a:t>
            </a:r>
            <a:endParaRPr sz="6150" b="1" dirty="0">
              <a:solidFill>
                <a:srgbClr val="FFFFFF"/>
              </a:solidFill>
              <a:latin typeface="DejaVu Sans"/>
              <a:ea typeface="DejaVu Sans"/>
              <a:cs typeface="DejaVu Sans"/>
            </a:endParaRPr>
          </a:p>
        </p:txBody>
      </p:sp>
      <p:sp>
        <p:nvSpPr>
          <p:cNvPr id="5" name="Rectangle 4">
            <a:extLst>
              <a:ext uri="{FF2B5EF4-FFF2-40B4-BE49-F238E27FC236}">
                <a16:creationId xmlns:a16="http://schemas.microsoft.com/office/drawing/2014/main" id="{E9C2F507-5615-4F8A-B7F7-6FC220BB8751}"/>
              </a:ext>
            </a:extLst>
          </p:cNvPr>
          <p:cNvSpPr>
            <a:spLocks noGrp="1"/>
          </p:cNvSpPr>
          <p:nvPr/>
        </p:nvSpPr>
        <p:spPr>
          <a:xfrm>
            <a:off x="685800" y="4038600"/>
            <a:ext cx="6000750" cy="714375"/>
          </a:xfrm>
          <a:prstGeom prst="rect">
            <a:avLst/>
          </a:prstGeom>
          <a:noFill/>
          <a:ln w="0">
            <a:noFill/>
          </a:ln>
        </p:spPr>
        <p:txBody>
          <a:bodyPr>
            <a:noAutofit/>
          </a:bodyPr>
          <a:lstStyle/>
          <a:p>
            <a:pPr>
              <a:buNone/>
              <a:defRPr sz="1875" b="0">
                <a:solidFill>
                  <a:srgbClr val="C4D1DE"/>
                </a:solidFill>
                <a:latin typeface="DejaVu Sans"/>
                <a:ea typeface="DejaVu Sans"/>
                <a:cs typeface="DejaVu Sans"/>
              </a:defRPr>
            </a:pPr>
            <a:r>
              <a:rPr sz="1875" b="0" dirty="0">
                <a:solidFill>
                  <a:srgbClr val="C4D1DE"/>
                </a:solidFill>
                <a:latin typeface="DejaVu Sans"/>
                <a:ea typeface="DejaVu Sans"/>
                <a:cs typeface="DejaVu Sans"/>
              </a:rPr>
              <a:t>EBS / EFS</a:t>
            </a:r>
          </a:p>
        </p:txBody>
      </p:sp>
      <p:sp>
        <p:nvSpPr>
          <p:cNvPr id="6" name="Rectangle 5">
            <a:extLst>
              <a:ext uri="{FF2B5EF4-FFF2-40B4-BE49-F238E27FC236}">
                <a16:creationId xmlns:a16="http://schemas.microsoft.com/office/drawing/2014/main" id="{4C2A27B5-FB4B-471E-9B48-363A6AC79393}"/>
              </a:ext>
            </a:extLst>
          </p:cNvPr>
          <p:cNvSpPr>
            <a:spLocks noGrp="1"/>
          </p:cNvSpPr>
          <p:nvPr/>
        </p:nvSpPr>
        <p:spPr>
          <a:xfrm>
            <a:off x="685800" y="5734050"/>
            <a:ext cx="5905500" cy="400050"/>
          </a:xfrm>
          <a:prstGeom prst="rect">
            <a:avLst/>
          </a:prstGeom>
          <a:noFill/>
          <a:ln w="0">
            <a:noFill/>
          </a:ln>
        </p:spPr>
        <p:txBody>
          <a:bodyPr>
            <a:noAutofit/>
          </a:bodyPr>
          <a:lstStyle/>
          <a:p>
            <a:pPr>
              <a:buNone/>
              <a:defRPr sz="1650" b="0">
                <a:solidFill>
                  <a:srgbClr val="8CA1B5"/>
                </a:solidFill>
                <a:latin typeface="DejaVu Sans"/>
                <a:ea typeface="DejaVu Sans"/>
                <a:cs typeface="DejaVu Sans"/>
              </a:defRPr>
            </a:pPr>
            <a:r>
              <a:rPr sz="1650" b="0" dirty="0">
                <a:solidFill>
                  <a:srgbClr val="8CA1B5"/>
                </a:solidFill>
                <a:latin typeface="DejaVu Sans"/>
                <a:ea typeface="DejaVu Sans"/>
                <a:cs typeface="DejaVu Sans"/>
              </a:rPr>
              <a:t>[</a:t>
            </a:r>
            <a:r>
              <a:rPr lang="en-US" sz="1650" dirty="0">
                <a:solidFill>
                  <a:srgbClr val="8CA1B5"/>
                </a:solidFill>
                <a:latin typeface="DejaVu Sans"/>
                <a:ea typeface="DejaVu Sans"/>
                <a:cs typeface="DejaVu Sans"/>
              </a:rPr>
              <a:t>Marcin Hoffman</a:t>
            </a:r>
            <a:r>
              <a:rPr sz="1650" b="0" dirty="0">
                <a:solidFill>
                  <a:srgbClr val="8CA1B5"/>
                </a:solidFill>
                <a:latin typeface="DejaVu Sans"/>
                <a:ea typeface="DejaVu Sans"/>
                <a:cs typeface="DejaVu Sans"/>
              </a:rPr>
              <a:t>]  / [</a:t>
            </a:r>
            <a:r>
              <a:rPr lang="en-US" sz="1650" b="0" dirty="0" err="1">
                <a:solidFill>
                  <a:srgbClr val="8CA1B5"/>
                </a:solidFill>
                <a:latin typeface="DejaVu Sans"/>
                <a:ea typeface="DejaVu Sans"/>
                <a:cs typeface="DejaVu Sans"/>
              </a:rPr>
              <a:t>Professor:Victor</a:t>
            </a:r>
            <a:r>
              <a:rPr lang="en-US" sz="1650" b="0" dirty="0">
                <a:solidFill>
                  <a:srgbClr val="8CA1B5"/>
                </a:solidFill>
                <a:latin typeface="DejaVu Sans"/>
                <a:ea typeface="DejaVu Sans"/>
                <a:cs typeface="DejaVu Sans"/>
              </a:rPr>
              <a:t> </a:t>
            </a:r>
            <a:r>
              <a:rPr lang="en-US" sz="1650" b="0" dirty="0" err="1">
                <a:solidFill>
                  <a:srgbClr val="8CA1B5"/>
                </a:solidFill>
                <a:latin typeface="DejaVu Sans"/>
                <a:ea typeface="DejaVu Sans"/>
                <a:cs typeface="DejaVu Sans"/>
              </a:rPr>
              <a:t>Govidaswamy</a:t>
            </a:r>
            <a:r>
              <a:rPr sz="1650" b="0" dirty="0">
                <a:solidFill>
                  <a:srgbClr val="8CA1B5"/>
                </a:solidFill>
                <a:latin typeface="DejaVu Sans"/>
                <a:ea typeface="DejaVu Sans"/>
                <a:cs typeface="DejaVu Sans"/>
              </a:rPr>
              <a:t>]</a:t>
            </a:r>
            <a:r>
              <a:rPr lang="en-US" sz="1650" b="0" dirty="0">
                <a:solidFill>
                  <a:srgbClr val="8CA1B5"/>
                </a:solidFill>
                <a:latin typeface="DejaVu Sans"/>
                <a:ea typeface="DejaVu Sans"/>
                <a:cs typeface="DejaVu Sans"/>
              </a:rPr>
              <a:t> / [09/20/2026]</a:t>
            </a:r>
            <a:endParaRPr sz="1650" b="0" dirty="0">
              <a:solidFill>
                <a:srgbClr val="8CA1B5"/>
              </a:solidFill>
              <a:latin typeface="DejaVu Sans"/>
              <a:ea typeface="DejaVu Sans"/>
              <a:cs typeface="DejaVu Sans"/>
            </a:endParaRPr>
          </a:p>
        </p:txBody>
      </p:sp>
    </p:spTree>
    <p:extLst>
      <p:ext uri="{BB962C8B-B14F-4D97-AF65-F5344CB8AC3E}">
        <p14:creationId xmlns:p14="http://schemas.microsoft.com/office/powerpoint/2010/main" val="1206587451"/>
      </p:ext>
    </p:extLst>
  </p:cSld>
  <p:clrMapOvr>
    <a:masterClrMapping/>
  </p:clrMapOvr>
  <mc:AlternateContent xmlns:mc="http://schemas.openxmlformats.org/markup-compatibility/2006" xmlns:p14="http://schemas.microsoft.com/office/powerpoint/2010/main">
    <mc:Choice Requires="p14">
      <p:transition spd="slow" p14:dur="2000" advTm="14131"/>
    </mc:Choice>
    <mc:Fallback xmlns="">
      <p:transition spd="slow" advTm="141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6715125" y="1952625"/>
            <a:ext cx="4572000" cy="4572000"/>
          </a:xfrm>
          <a:prstGeom prst="rect">
            <a:avLst/>
          </a:prstGeom>
        </p:spPr>
      </p:pic>
      <p:sp>
        <p:nvSpPr>
          <p:cNvPr id="2" name="Rectangle 1">
            <a:extLst>
              <a:ext uri="{FF2B5EF4-FFF2-40B4-BE49-F238E27FC236}">
                <a16:creationId xmlns:a16="http://schemas.microsoft.com/office/drawing/2014/main" id="{C88C343B-EAA4-4A84-B40D-76F7B75EFD91}"/>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6BA1DC00-8182-4886-9A83-66DEBD102814}"/>
              </a:ext>
            </a:extLst>
          </p:cNvPr>
          <p:cNvSpPr>
            <a:spLocks noGrp="1"/>
          </p:cNvSpPr>
          <p:nvPr/>
        </p:nvSpPr>
        <p:spPr>
          <a:xfrm>
            <a:off x="685800" y="723900"/>
            <a:ext cx="6477000" cy="7239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EBS</a:t>
            </a:r>
          </a:p>
        </p:txBody>
      </p:sp>
      <p:sp>
        <p:nvSpPr>
          <p:cNvPr id="4" name="Rectangle 3">
            <a:extLst>
              <a:ext uri="{FF2B5EF4-FFF2-40B4-BE49-F238E27FC236}">
                <a16:creationId xmlns:a16="http://schemas.microsoft.com/office/drawing/2014/main" id="{0ED674F2-8347-4B2A-AE44-79985F4D7531}"/>
              </a:ext>
            </a:extLst>
          </p:cNvPr>
          <p:cNvSpPr>
            <a:spLocks noGrp="1"/>
          </p:cNvSpPr>
          <p:nvPr/>
        </p:nvSpPr>
        <p:spPr>
          <a:xfrm>
            <a:off x="714375" y="1524000"/>
            <a:ext cx="5715000" cy="419100"/>
          </a:xfrm>
          <a:prstGeom prst="rect">
            <a:avLst/>
          </a:prstGeom>
          <a:noFill/>
          <a:ln w="0">
            <a:noFill/>
          </a:ln>
        </p:spPr>
        <p:txBody>
          <a:bodyPr>
            <a:noAutofit/>
          </a:bodyPr>
          <a:lstStyle/>
          <a:p>
            <a:pPr>
              <a:buNone/>
              <a:defRPr sz="1875" b="0">
                <a:solidFill>
                  <a:srgbClr val="FFAF48"/>
                </a:solidFill>
                <a:latin typeface="DejaVu Sans"/>
                <a:ea typeface="DejaVu Sans"/>
                <a:cs typeface="DejaVu Sans"/>
              </a:defRPr>
            </a:pPr>
            <a:r>
              <a:rPr sz="1875" b="0">
                <a:solidFill>
                  <a:srgbClr val="FFAF48"/>
                </a:solidFill>
                <a:latin typeface="DejaVu Sans"/>
                <a:ea typeface="DejaVu Sans"/>
                <a:cs typeface="DejaVu Sans"/>
              </a:rPr>
              <a:t>Elastic Block Store</a:t>
            </a:r>
          </a:p>
        </p:txBody>
      </p:sp>
      <p:sp>
        <p:nvSpPr>
          <p:cNvPr id="5" name="Rectangle 4">
            <a:extLst>
              <a:ext uri="{FF2B5EF4-FFF2-40B4-BE49-F238E27FC236}">
                <a16:creationId xmlns:a16="http://schemas.microsoft.com/office/drawing/2014/main" id="{D76E61F0-4845-41B2-8ECF-8E6BB495C25E}"/>
              </a:ext>
            </a:extLst>
          </p:cNvPr>
          <p:cNvSpPr>
            <a:spLocks noGrp="1"/>
          </p:cNvSpPr>
          <p:nvPr/>
        </p:nvSpPr>
        <p:spPr>
          <a:xfrm>
            <a:off x="685800" y="2124075"/>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Function</a:t>
            </a:r>
            <a:endParaRPr sz="2250" b="1" dirty="0">
              <a:solidFill>
                <a:srgbClr val="FFFFFF"/>
              </a:solidFill>
              <a:latin typeface="DejaVu Sans"/>
              <a:ea typeface="DejaVu Sans"/>
              <a:cs typeface="DejaVu Sans"/>
            </a:endParaRPr>
          </a:p>
        </p:txBody>
      </p:sp>
      <p:sp>
        <p:nvSpPr>
          <p:cNvPr id="6" name="Rectangle 5">
            <a:extLst>
              <a:ext uri="{FF2B5EF4-FFF2-40B4-BE49-F238E27FC236}">
                <a16:creationId xmlns:a16="http://schemas.microsoft.com/office/drawing/2014/main" id="{85F63C22-F325-46D1-8397-CCD24807E98B}"/>
              </a:ext>
            </a:extLst>
          </p:cNvPr>
          <p:cNvSpPr>
            <a:spLocks noGrp="1"/>
          </p:cNvSpPr>
          <p:nvPr/>
        </p:nvSpPr>
        <p:spPr>
          <a:xfrm>
            <a:off x="685800" y="26384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Network Drive attached to instances during operations</a:t>
            </a:r>
          </a:p>
          <a:p>
            <a:pP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Persist data</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Locked to Availability Zones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Network based Communication</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Provisioned Capacity [GBs/IOPS]</a:t>
            </a: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8" name="Rectangle 7">
            <a:extLst>
              <a:ext uri="{FF2B5EF4-FFF2-40B4-BE49-F238E27FC236}">
                <a16:creationId xmlns:a16="http://schemas.microsoft.com/office/drawing/2014/main" id="{DE9A7CC9-D38A-4EB4-9CAF-47402537CA2E}"/>
              </a:ext>
            </a:extLst>
          </p:cNvPr>
          <p:cNvSpPr>
            <a:spLocks noGrp="1"/>
          </p:cNvSpPr>
          <p:nvPr/>
        </p:nvSpPr>
        <p:spPr>
          <a:xfrm>
            <a:off x="685800" y="4381500"/>
            <a:ext cx="5238750" cy="619125"/>
          </a:xfrm>
          <a:prstGeom prst="rect">
            <a:avLst/>
          </a:prstGeom>
          <a:noFill/>
          <a:ln w="0">
            <a:noFill/>
          </a:ln>
        </p:spPr>
        <p:txBody>
          <a:bodyPr>
            <a:noAutofit/>
          </a:bodyPr>
          <a:lstStyle/>
          <a:p>
            <a:pPr>
              <a:buNone/>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13" name="Rectangle 12">
            <a:extLst>
              <a:ext uri="{FF2B5EF4-FFF2-40B4-BE49-F238E27FC236}">
                <a16:creationId xmlns:a16="http://schemas.microsoft.com/office/drawing/2014/main" id="{B5A02258-0737-E008-B3AC-7B5D7623B40A}"/>
              </a:ext>
            </a:extLst>
          </p:cNvPr>
          <p:cNvSpPr>
            <a:spLocks noGrp="1"/>
          </p:cNvSpPr>
          <p:nvPr/>
        </p:nvSpPr>
        <p:spPr>
          <a:xfrm>
            <a:off x="657225" y="3962400"/>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Restraints</a:t>
            </a:r>
            <a:endParaRPr sz="2250" b="1"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1050850400"/>
      </p:ext>
    </p:extLst>
  </p:cSld>
  <p:clrMapOvr>
    <a:masterClrMapping/>
  </p:clrMapOvr>
  <mc:AlternateContent xmlns:mc="http://schemas.openxmlformats.org/markup-compatibility/2006" xmlns:p14="http://schemas.microsoft.com/office/powerpoint/2010/main">
    <mc:Choice Requires="p14">
      <p:transition spd="slow" p14:dur="2000" advTm="138946"/>
    </mc:Choice>
    <mc:Fallback xmlns="">
      <p:transition spd="slow" advTm="13894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65D4424-032F-4617-A60B-C75F3CBC03D7}"/>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2E542715-7A66-40B0-9946-566F7B2D074D}"/>
              </a:ext>
            </a:extLst>
          </p:cNvPr>
          <p:cNvSpPr>
            <a:spLocks noGrp="1"/>
          </p:cNvSpPr>
          <p:nvPr/>
        </p:nvSpPr>
        <p:spPr>
          <a:xfrm>
            <a:off x="685800" y="609600"/>
            <a:ext cx="6858000" cy="6858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EBS</a:t>
            </a:r>
          </a:p>
        </p:txBody>
      </p:sp>
      <p:sp>
        <p:nvSpPr>
          <p:cNvPr id="4" name="Rectangle 3">
            <a:extLst>
              <a:ext uri="{FF2B5EF4-FFF2-40B4-BE49-F238E27FC236}">
                <a16:creationId xmlns:a16="http://schemas.microsoft.com/office/drawing/2014/main" id="{55A7132C-7EF4-43A3-B5CE-63558B2EA6ED}"/>
              </a:ext>
            </a:extLst>
          </p:cNvPr>
          <p:cNvSpPr>
            <a:spLocks noGrp="1"/>
          </p:cNvSpPr>
          <p:nvPr/>
        </p:nvSpPr>
        <p:spPr>
          <a:xfrm>
            <a:off x="714375" y="1381125"/>
            <a:ext cx="6572250" cy="485775"/>
          </a:xfrm>
          <a:prstGeom prst="rect">
            <a:avLst/>
          </a:prstGeom>
          <a:noFill/>
          <a:ln w="0">
            <a:noFill/>
          </a:ln>
        </p:spPr>
        <p:txBody>
          <a:bodyPr>
            <a:noAutofit/>
          </a:bodyPr>
          <a:lstStyle/>
          <a:p>
            <a:pPr>
              <a:buNone/>
              <a:defRPr sz="2325" b="0">
                <a:solidFill>
                  <a:srgbClr val="FFAF48"/>
                </a:solidFill>
                <a:latin typeface="DejaVu Sans"/>
                <a:ea typeface="DejaVu Sans"/>
                <a:cs typeface="DejaVu Sans"/>
              </a:defRPr>
            </a:pPr>
            <a:r>
              <a:rPr lang="en-US" sz="2325" b="0" dirty="0">
                <a:solidFill>
                  <a:srgbClr val="FFAF48"/>
                </a:solidFill>
                <a:latin typeface="DejaVu Sans"/>
                <a:ea typeface="DejaVu Sans"/>
                <a:cs typeface="DejaVu Sans"/>
              </a:rPr>
              <a:t>Storage Types</a:t>
            </a:r>
            <a:endParaRPr sz="23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CE045012-444E-4B48-BA27-22200BDBE457}"/>
              </a:ext>
            </a:extLst>
          </p:cNvPr>
          <p:cNvSpPr>
            <a:spLocks noGrp="1"/>
          </p:cNvSpPr>
          <p:nvPr/>
        </p:nvSpPr>
        <p:spPr>
          <a:xfrm>
            <a:off x="755650" y="2028031"/>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SDD Backed Volumes</a:t>
            </a:r>
            <a:endParaRPr sz="1950" b="1" dirty="0">
              <a:solidFill>
                <a:srgbClr val="FFFFFF"/>
              </a:solidFill>
              <a:latin typeface="DejaVu Sans"/>
              <a:ea typeface="DejaVu Sans"/>
              <a:cs typeface="DejaVu Sans"/>
            </a:endParaRPr>
          </a:p>
        </p:txBody>
      </p:sp>
      <p:sp>
        <p:nvSpPr>
          <p:cNvPr id="7" name="Rectangle 6">
            <a:extLst>
              <a:ext uri="{FF2B5EF4-FFF2-40B4-BE49-F238E27FC236}">
                <a16:creationId xmlns:a16="http://schemas.microsoft.com/office/drawing/2014/main" id="{78D293D4-C15E-4000-996A-102D28328F25}"/>
              </a:ext>
            </a:extLst>
          </p:cNvPr>
          <p:cNvSpPr>
            <a:spLocks noGrp="1"/>
          </p:cNvSpPr>
          <p:nvPr/>
        </p:nvSpPr>
        <p:spPr>
          <a:xfrm>
            <a:off x="762000" y="3533775"/>
            <a:ext cx="52324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HDD Backed Volumes</a:t>
            </a:r>
            <a:endParaRPr sz="1950" b="1" dirty="0">
              <a:solidFill>
                <a:srgbClr val="FFFFFF"/>
              </a:solidFill>
              <a:latin typeface="DejaVu Sans"/>
              <a:ea typeface="DejaVu Sans"/>
              <a:cs typeface="DejaVu Sans"/>
            </a:endParaRPr>
          </a:p>
        </p:txBody>
      </p:sp>
      <p:sp>
        <p:nvSpPr>
          <p:cNvPr id="12" name="Rectangle 11">
            <a:extLst>
              <a:ext uri="{FF2B5EF4-FFF2-40B4-BE49-F238E27FC236}">
                <a16:creationId xmlns:a16="http://schemas.microsoft.com/office/drawing/2014/main" id="{486BC256-6E68-B2E8-51F7-582B5433C462}"/>
              </a:ext>
            </a:extLst>
          </p:cNvPr>
          <p:cNvSpPr>
            <a:spLocks noGrp="1"/>
          </p:cNvSpPr>
          <p:nvPr/>
        </p:nvSpPr>
        <p:spPr>
          <a:xfrm>
            <a:off x="755650" y="2471341"/>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GP2 &amp; GP3</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Io1, Io2 Block Express</a:t>
            </a:r>
            <a:endParaRPr sz="1950" b="0" dirty="0">
              <a:solidFill>
                <a:srgbClr val="A8B8C8"/>
              </a:solidFill>
              <a:latin typeface="DejaVu Sans"/>
              <a:ea typeface="DejaVu Sans"/>
              <a:cs typeface="DejaVu Sans"/>
            </a:endParaRPr>
          </a:p>
        </p:txBody>
      </p:sp>
      <p:sp>
        <p:nvSpPr>
          <p:cNvPr id="14" name="Rectangle 13">
            <a:extLst>
              <a:ext uri="{FF2B5EF4-FFF2-40B4-BE49-F238E27FC236}">
                <a16:creationId xmlns:a16="http://schemas.microsoft.com/office/drawing/2014/main" id="{CB31DA13-04FA-2390-80F5-58DBE8997E14}"/>
              </a:ext>
            </a:extLst>
          </p:cNvPr>
          <p:cNvSpPr>
            <a:spLocks noGrp="1"/>
          </p:cNvSpPr>
          <p:nvPr/>
        </p:nvSpPr>
        <p:spPr>
          <a:xfrm>
            <a:off x="762000" y="40100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Throughput Optimized HDD(st1)</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Cold HDD (sc1)</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Magnetic </a:t>
            </a:r>
            <a:r>
              <a:rPr lang="en-US" sz="1950" dirty="0" err="1">
                <a:solidFill>
                  <a:srgbClr val="A8B8C8"/>
                </a:solidFill>
                <a:latin typeface="DejaVu Sans"/>
                <a:ea typeface="DejaVu Sans"/>
                <a:cs typeface="DejaVu Sans"/>
              </a:rPr>
              <a:t>Standerd</a:t>
            </a:r>
            <a:endParaRPr lang="en-US" sz="1950" b="0" dirty="0">
              <a:solidFill>
                <a:srgbClr val="A8B8C8"/>
              </a:solidFill>
              <a:latin typeface="DejaVu Sans"/>
              <a:ea typeface="DejaVu Sans"/>
              <a:cs typeface="DejaVu Sans"/>
            </a:endParaRPr>
          </a:p>
        </p:txBody>
      </p:sp>
      <p:pic>
        <p:nvPicPr>
          <p:cNvPr id="16" name="Picture 15">
            <a:extLst>
              <a:ext uri="{FF2B5EF4-FFF2-40B4-BE49-F238E27FC236}">
                <a16:creationId xmlns:a16="http://schemas.microsoft.com/office/drawing/2014/main" id="{F7A801DD-EC40-858C-CA7C-1E6C0E4D5D11}"/>
              </a:ext>
            </a:extLst>
          </p:cNvPr>
          <p:cNvPicPr>
            <a:picLocks noChangeAspect="1"/>
          </p:cNvPicPr>
          <p:nvPr/>
        </p:nvPicPr>
        <p:blipFill>
          <a:blip r:embed="rId3"/>
          <a:stretch>
            <a:fillRect/>
          </a:stretch>
        </p:blipFill>
        <p:spPr>
          <a:xfrm>
            <a:off x="7048500" y="0"/>
            <a:ext cx="4572000" cy="6858000"/>
          </a:xfrm>
          <a:prstGeom prst="rect">
            <a:avLst/>
          </a:prstGeom>
        </p:spPr>
      </p:pic>
    </p:spTree>
    <p:extLst>
      <p:ext uri="{BB962C8B-B14F-4D97-AF65-F5344CB8AC3E}">
        <p14:creationId xmlns:p14="http://schemas.microsoft.com/office/powerpoint/2010/main" val="132397821"/>
      </p:ext>
    </p:extLst>
  </p:cSld>
  <p:clrMapOvr>
    <a:masterClrMapping/>
  </p:clrMapOvr>
  <mc:AlternateContent xmlns:mc="http://schemas.openxmlformats.org/markup-compatibility/2006" xmlns:p14="http://schemas.microsoft.com/office/powerpoint/2010/main">
    <mc:Choice Requires="p14">
      <p:transition spd="slow" p14:dur="2000" advTm="109088"/>
    </mc:Choice>
    <mc:Fallback xmlns="">
      <p:transition spd="slow" advTm="10908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5876924" y="381000"/>
            <a:ext cx="6162675" cy="6162675"/>
          </a:xfrm>
          <a:prstGeom prst="rect">
            <a:avLst/>
          </a:prstGeom>
        </p:spPr>
      </p:pic>
      <p:sp>
        <p:nvSpPr>
          <p:cNvPr id="2" name="Rectangle 1">
            <a:extLst>
              <a:ext uri="{FF2B5EF4-FFF2-40B4-BE49-F238E27FC236}">
                <a16:creationId xmlns:a16="http://schemas.microsoft.com/office/drawing/2014/main" id="{6D8F1DA2-1BAE-4C04-AB62-591768461D7D}"/>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47948E1C-DAAF-4E4E-9686-D7AFA65E9D62}"/>
              </a:ext>
            </a:extLst>
          </p:cNvPr>
          <p:cNvSpPr>
            <a:spLocks noGrp="1"/>
          </p:cNvSpPr>
          <p:nvPr/>
        </p:nvSpPr>
        <p:spPr>
          <a:xfrm>
            <a:off x="685800" y="723900"/>
            <a:ext cx="10763250" cy="7239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EBS Elastic Volumes</a:t>
            </a:r>
          </a:p>
        </p:txBody>
      </p:sp>
      <p:sp>
        <p:nvSpPr>
          <p:cNvPr id="4" name="Rectangle 3">
            <a:extLst>
              <a:ext uri="{FF2B5EF4-FFF2-40B4-BE49-F238E27FC236}">
                <a16:creationId xmlns:a16="http://schemas.microsoft.com/office/drawing/2014/main" id="{8A8312D9-1E71-4FE0-A78A-606CC3BFC0F6}"/>
              </a:ext>
            </a:extLst>
          </p:cNvPr>
          <p:cNvSpPr>
            <a:spLocks noGrp="1"/>
          </p:cNvSpPr>
          <p:nvPr/>
        </p:nvSpPr>
        <p:spPr>
          <a:xfrm>
            <a:off x="714375" y="1524000"/>
            <a:ext cx="5334000" cy="419100"/>
          </a:xfrm>
          <a:prstGeom prst="rect">
            <a:avLst/>
          </a:prstGeom>
          <a:noFill/>
          <a:ln w="0">
            <a:noFill/>
          </a:ln>
        </p:spPr>
        <p:txBody>
          <a:bodyPr>
            <a:noAutofit/>
          </a:bodyPr>
          <a:lstStyle/>
          <a:p>
            <a:pPr>
              <a:buNone/>
              <a:defRPr sz="2025" b="0">
                <a:solidFill>
                  <a:srgbClr val="FFAF48"/>
                </a:solidFill>
                <a:latin typeface="DejaVu Sans"/>
                <a:ea typeface="DejaVu Sans"/>
                <a:cs typeface="DejaVu Sans"/>
              </a:defRPr>
            </a:pPr>
            <a:r>
              <a:rPr sz="2025" b="0" dirty="0">
                <a:solidFill>
                  <a:srgbClr val="FFAF48"/>
                </a:solidFill>
                <a:latin typeface="DejaVu Sans"/>
                <a:ea typeface="DejaVu Sans"/>
                <a:cs typeface="DejaVu Sans"/>
              </a:rPr>
              <a:t>Volume </a:t>
            </a:r>
            <a:r>
              <a:rPr lang="en-US" sz="2025" b="0" dirty="0">
                <a:solidFill>
                  <a:srgbClr val="FFAF48"/>
                </a:solidFill>
                <a:latin typeface="DejaVu Sans"/>
                <a:ea typeface="DejaVu Sans"/>
                <a:cs typeface="DejaVu Sans"/>
              </a:rPr>
              <a:t>Configurations</a:t>
            </a:r>
            <a:endParaRPr sz="20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85486641-2137-4E24-8697-66D195F4F9D5}"/>
              </a:ext>
            </a:extLst>
          </p:cNvPr>
          <p:cNvSpPr>
            <a:spLocks noGrp="1"/>
          </p:cNvSpPr>
          <p:nvPr/>
        </p:nvSpPr>
        <p:spPr>
          <a:xfrm>
            <a:off x="685800" y="2552700"/>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Capacity</a:t>
            </a:r>
          </a:p>
        </p:txBody>
      </p:sp>
      <p:sp>
        <p:nvSpPr>
          <p:cNvPr id="8" name="Rectangle 7">
            <a:extLst>
              <a:ext uri="{FF2B5EF4-FFF2-40B4-BE49-F238E27FC236}">
                <a16:creationId xmlns:a16="http://schemas.microsoft.com/office/drawing/2014/main" id="{A3DBC752-17B4-4230-889A-ADF944CF40D6}"/>
              </a:ext>
            </a:extLst>
          </p:cNvPr>
          <p:cNvSpPr>
            <a:spLocks noGrp="1"/>
          </p:cNvSpPr>
          <p:nvPr/>
        </p:nvSpPr>
        <p:spPr>
          <a:xfrm>
            <a:off x="685800" y="3529012"/>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Performance</a:t>
            </a:r>
          </a:p>
        </p:txBody>
      </p:sp>
      <p:sp>
        <p:nvSpPr>
          <p:cNvPr id="10" name="Rectangle 9">
            <a:extLst>
              <a:ext uri="{FF2B5EF4-FFF2-40B4-BE49-F238E27FC236}">
                <a16:creationId xmlns:a16="http://schemas.microsoft.com/office/drawing/2014/main" id="{705E4E0A-517E-4AE1-BA24-D81EA95B1594}"/>
              </a:ext>
            </a:extLst>
          </p:cNvPr>
          <p:cNvSpPr>
            <a:spLocks noGrp="1"/>
          </p:cNvSpPr>
          <p:nvPr/>
        </p:nvSpPr>
        <p:spPr>
          <a:xfrm>
            <a:off x="685800" y="4505324"/>
            <a:ext cx="5334000" cy="447675"/>
          </a:xfrm>
          <a:prstGeom prst="rect">
            <a:avLst/>
          </a:prstGeom>
          <a:noFill/>
          <a:ln w="0">
            <a:noFill/>
          </a:ln>
        </p:spPr>
        <p:txBody>
          <a:bodyPr>
            <a:noAutofit/>
          </a:bodyPr>
          <a:lstStyle/>
          <a:p>
            <a:pPr>
              <a:buNone/>
              <a:defRPr sz="2400" b="1">
                <a:solidFill>
                  <a:srgbClr val="FFFFFF"/>
                </a:solidFill>
                <a:latin typeface="DejaVu Sans"/>
                <a:ea typeface="DejaVu Sans"/>
                <a:cs typeface="DejaVu Sans"/>
              </a:defRPr>
            </a:pPr>
            <a:r>
              <a:rPr lang="en-US" sz="2400" b="1" dirty="0">
                <a:solidFill>
                  <a:srgbClr val="FFFFFF"/>
                </a:solidFill>
                <a:latin typeface="DejaVu Sans"/>
                <a:ea typeface="DejaVu Sans"/>
                <a:cs typeface="DejaVu Sans"/>
              </a:rPr>
              <a:t>-</a:t>
            </a:r>
            <a:r>
              <a:rPr sz="2400" b="1" dirty="0">
                <a:solidFill>
                  <a:srgbClr val="FFFFFF"/>
                </a:solidFill>
                <a:latin typeface="DejaVu Sans"/>
                <a:ea typeface="DejaVu Sans"/>
                <a:cs typeface="DejaVu Sans"/>
              </a:rPr>
              <a:t>Volume type</a:t>
            </a:r>
          </a:p>
        </p:txBody>
      </p:sp>
    </p:spTree>
    <p:extLst>
      <p:ext uri="{BB962C8B-B14F-4D97-AF65-F5344CB8AC3E}">
        <p14:creationId xmlns:p14="http://schemas.microsoft.com/office/powerpoint/2010/main" val="920401694"/>
      </p:ext>
    </p:extLst>
  </p:cSld>
  <p:clrMapOvr>
    <a:masterClrMapping/>
  </p:clrMapOvr>
  <mc:AlternateContent xmlns:mc="http://schemas.openxmlformats.org/markup-compatibility/2006" xmlns:p14="http://schemas.microsoft.com/office/powerpoint/2010/main">
    <mc:Choice Requires="p14">
      <p:transition spd="slow" p14:dur="2000" advTm="96127"/>
    </mc:Choice>
    <mc:Fallback xmlns="">
      <p:transition spd="slow" advTm="9612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6715125" y="1952625"/>
            <a:ext cx="4572000" cy="4572000"/>
          </a:xfrm>
          <a:prstGeom prst="rect">
            <a:avLst/>
          </a:prstGeom>
        </p:spPr>
      </p:pic>
      <p:sp>
        <p:nvSpPr>
          <p:cNvPr id="2" name="Rectangle 1">
            <a:extLst>
              <a:ext uri="{FF2B5EF4-FFF2-40B4-BE49-F238E27FC236}">
                <a16:creationId xmlns:a16="http://schemas.microsoft.com/office/drawing/2014/main" id="{1ACBAD27-03A1-41B9-B67B-22AF74E7479A}"/>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138C281C-FE2E-4871-BA80-199191902F0F}"/>
              </a:ext>
            </a:extLst>
          </p:cNvPr>
          <p:cNvSpPr>
            <a:spLocks noGrp="1"/>
          </p:cNvSpPr>
          <p:nvPr/>
        </p:nvSpPr>
        <p:spPr>
          <a:xfrm>
            <a:off x="685800" y="733425"/>
            <a:ext cx="6191250" cy="733425"/>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EFS</a:t>
            </a:r>
          </a:p>
        </p:txBody>
      </p:sp>
      <p:sp>
        <p:nvSpPr>
          <p:cNvPr id="4" name="Rectangle 3">
            <a:extLst>
              <a:ext uri="{FF2B5EF4-FFF2-40B4-BE49-F238E27FC236}">
                <a16:creationId xmlns:a16="http://schemas.microsoft.com/office/drawing/2014/main" id="{72440380-8E62-488C-9143-27B05877658D}"/>
              </a:ext>
            </a:extLst>
          </p:cNvPr>
          <p:cNvSpPr>
            <a:spLocks noGrp="1"/>
          </p:cNvSpPr>
          <p:nvPr/>
        </p:nvSpPr>
        <p:spPr>
          <a:xfrm>
            <a:off x="714375" y="1543050"/>
            <a:ext cx="5810250" cy="419100"/>
          </a:xfrm>
          <a:prstGeom prst="rect">
            <a:avLst/>
          </a:prstGeom>
          <a:noFill/>
          <a:ln w="0">
            <a:noFill/>
          </a:ln>
        </p:spPr>
        <p:txBody>
          <a:bodyPr>
            <a:noAutofit/>
          </a:bodyPr>
          <a:lstStyle/>
          <a:p>
            <a:pPr>
              <a:buNone/>
              <a:defRPr sz="1875" b="0">
                <a:solidFill>
                  <a:srgbClr val="65DDE8"/>
                </a:solidFill>
                <a:latin typeface="DejaVu Sans"/>
                <a:ea typeface="DejaVu Sans"/>
                <a:cs typeface="DejaVu Sans"/>
              </a:defRPr>
            </a:pPr>
            <a:r>
              <a:rPr sz="1875" b="0">
                <a:solidFill>
                  <a:srgbClr val="65DDE8"/>
                </a:solidFill>
                <a:latin typeface="DejaVu Sans"/>
                <a:ea typeface="DejaVu Sans"/>
                <a:cs typeface="DejaVu Sans"/>
              </a:rPr>
              <a:t>Elastic File System</a:t>
            </a:r>
          </a:p>
        </p:txBody>
      </p:sp>
      <p:sp>
        <p:nvSpPr>
          <p:cNvPr id="5" name="Rectangle 4">
            <a:extLst>
              <a:ext uri="{FF2B5EF4-FFF2-40B4-BE49-F238E27FC236}">
                <a16:creationId xmlns:a16="http://schemas.microsoft.com/office/drawing/2014/main" id="{8F64FEC4-22F5-4A5B-9AF2-18D41FA94E1A}"/>
              </a:ext>
            </a:extLst>
          </p:cNvPr>
          <p:cNvSpPr>
            <a:spLocks noGrp="1"/>
          </p:cNvSpPr>
          <p:nvPr/>
        </p:nvSpPr>
        <p:spPr>
          <a:xfrm>
            <a:off x="714375" y="2800350"/>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Characteristics</a:t>
            </a:r>
            <a:endParaRPr sz="2250" b="1" dirty="0">
              <a:solidFill>
                <a:srgbClr val="FFFFFF"/>
              </a:solidFill>
              <a:latin typeface="DejaVu Sans"/>
              <a:ea typeface="DejaVu Sans"/>
              <a:cs typeface="DejaVu Sans"/>
            </a:endParaRPr>
          </a:p>
        </p:txBody>
      </p:sp>
      <p:sp>
        <p:nvSpPr>
          <p:cNvPr id="6" name="Rectangle 5">
            <a:extLst>
              <a:ext uri="{FF2B5EF4-FFF2-40B4-BE49-F238E27FC236}">
                <a16:creationId xmlns:a16="http://schemas.microsoft.com/office/drawing/2014/main" id="{532921A3-E603-47C0-94F3-7739B78943F0}"/>
              </a:ext>
            </a:extLst>
          </p:cNvPr>
          <p:cNvSpPr>
            <a:spLocks noGrp="1"/>
          </p:cNvSpPr>
          <p:nvPr/>
        </p:nvSpPr>
        <p:spPr>
          <a:xfrm>
            <a:off x="714375" y="3314700"/>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Multiple EC2 instances across AZ’s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Highly Available</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Relativity Expensive </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Pay-per-use </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Only compatible with Linux not Windows</a:t>
            </a: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7" name="Rectangle 6">
            <a:extLst>
              <a:ext uri="{FF2B5EF4-FFF2-40B4-BE49-F238E27FC236}">
                <a16:creationId xmlns:a16="http://schemas.microsoft.com/office/drawing/2014/main" id="{40D37BBB-2E9E-4C1B-AA00-18A1BC4C9620}"/>
              </a:ext>
            </a:extLst>
          </p:cNvPr>
          <p:cNvSpPr>
            <a:spLocks noGrp="1"/>
          </p:cNvSpPr>
          <p:nvPr/>
        </p:nvSpPr>
        <p:spPr>
          <a:xfrm>
            <a:off x="714375" y="4600575"/>
            <a:ext cx="514350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endParaRPr sz="2250" b="1"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366790729"/>
      </p:ext>
    </p:extLst>
  </p:cSld>
  <p:clrMapOvr>
    <a:masterClrMapping/>
  </p:clrMapOvr>
  <mc:AlternateContent xmlns:mc="http://schemas.openxmlformats.org/markup-compatibility/2006" xmlns:p14="http://schemas.microsoft.com/office/powerpoint/2010/main">
    <mc:Choice Requires="p14">
      <p:transition spd="slow" p14:dur="2000" advTm="134951"/>
    </mc:Choice>
    <mc:Fallback xmlns="">
      <p:transition spd="slow" advTm="13495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884ED044-C4E0-9943-6697-CF8E9E8387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6F902B-ADEC-E5CD-4E10-AEE24F4141FF}"/>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136A428A-75C7-598E-ACBF-6A039DD5150D}"/>
              </a:ext>
            </a:extLst>
          </p:cNvPr>
          <p:cNvSpPr>
            <a:spLocks noGrp="1"/>
          </p:cNvSpPr>
          <p:nvPr/>
        </p:nvSpPr>
        <p:spPr>
          <a:xfrm>
            <a:off x="685800" y="609600"/>
            <a:ext cx="6858000" cy="6858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dirty="0">
                <a:solidFill>
                  <a:srgbClr val="FFFFFF"/>
                </a:solidFill>
                <a:latin typeface="DejaVu Sans"/>
                <a:ea typeface="DejaVu Sans"/>
                <a:cs typeface="DejaVu Sans"/>
              </a:rPr>
              <a:t>Amazon E</a:t>
            </a:r>
            <a:r>
              <a:rPr lang="en-US" sz="3600" b="1" dirty="0">
                <a:solidFill>
                  <a:srgbClr val="FFFFFF"/>
                </a:solidFill>
                <a:latin typeface="DejaVu Sans"/>
                <a:ea typeface="DejaVu Sans"/>
                <a:cs typeface="DejaVu Sans"/>
              </a:rPr>
              <a:t>FS</a:t>
            </a:r>
            <a:endParaRPr sz="3600" b="1" dirty="0">
              <a:solidFill>
                <a:srgbClr val="FFFFFF"/>
              </a:solidFill>
              <a:latin typeface="DejaVu Sans"/>
              <a:ea typeface="DejaVu Sans"/>
              <a:cs typeface="DejaVu Sans"/>
            </a:endParaRPr>
          </a:p>
        </p:txBody>
      </p:sp>
      <p:sp>
        <p:nvSpPr>
          <p:cNvPr id="4" name="Rectangle 3">
            <a:extLst>
              <a:ext uri="{FF2B5EF4-FFF2-40B4-BE49-F238E27FC236}">
                <a16:creationId xmlns:a16="http://schemas.microsoft.com/office/drawing/2014/main" id="{8AE3FF7E-47A9-8750-8472-AB553772DCF0}"/>
              </a:ext>
            </a:extLst>
          </p:cNvPr>
          <p:cNvSpPr>
            <a:spLocks noGrp="1"/>
          </p:cNvSpPr>
          <p:nvPr/>
        </p:nvSpPr>
        <p:spPr>
          <a:xfrm>
            <a:off x="714375" y="1381125"/>
            <a:ext cx="6572250" cy="485775"/>
          </a:xfrm>
          <a:prstGeom prst="rect">
            <a:avLst/>
          </a:prstGeom>
          <a:noFill/>
          <a:ln w="0">
            <a:noFill/>
          </a:ln>
        </p:spPr>
        <p:txBody>
          <a:bodyPr>
            <a:noAutofit/>
          </a:bodyPr>
          <a:lstStyle/>
          <a:p>
            <a:pPr>
              <a:buNone/>
              <a:defRPr sz="2325" b="0">
                <a:solidFill>
                  <a:srgbClr val="FFAF48"/>
                </a:solidFill>
                <a:latin typeface="DejaVu Sans"/>
                <a:ea typeface="DejaVu Sans"/>
                <a:cs typeface="DejaVu Sans"/>
              </a:defRPr>
            </a:pPr>
            <a:r>
              <a:rPr lang="en-US" sz="2325" b="0" dirty="0">
                <a:solidFill>
                  <a:srgbClr val="FFAF48"/>
                </a:solidFill>
                <a:latin typeface="DejaVu Sans"/>
                <a:ea typeface="DejaVu Sans"/>
                <a:cs typeface="DejaVu Sans"/>
              </a:rPr>
              <a:t>Storage Tiers &amp; Management</a:t>
            </a:r>
            <a:endParaRPr sz="23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B939CA54-1BAD-C726-D2FC-A39F72A3D016}"/>
              </a:ext>
            </a:extLst>
          </p:cNvPr>
          <p:cNvSpPr>
            <a:spLocks noGrp="1"/>
          </p:cNvSpPr>
          <p:nvPr/>
        </p:nvSpPr>
        <p:spPr>
          <a:xfrm>
            <a:off x="755650" y="2028031"/>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Classes</a:t>
            </a:r>
            <a:endParaRPr sz="1950" b="1" dirty="0">
              <a:solidFill>
                <a:srgbClr val="FFFFFF"/>
              </a:solidFill>
              <a:latin typeface="DejaVu Sans"/>
              <a:ea typeface="DejaVu Sans"/>
              <a:cs typeface="DejaVu Sans"/>
            </a:endParaRPr>
          </a:p>
        </p:txBody>
      </p:sp>
      <p:sp>
        <p:nvSpPr>
          <p:cNvPr id="12" name="Rectangle 11">
            <a:extLst>
              <a:ext uri="{FF2B5EF4-FFF2-40B4-BE49-F238E27FC236}">
                <a16:creationId xmlns:a16="http://schemas.microsoft.com/office/drawing/2014/main" id="{582EFE44-CAC7-00B5-DCB9-AA7400F88FA6}"/>
              </a:ext>
            </a:extLst>
          </p:cNvPr>
          <p:cNvSpPr>
            <a:spLocks noGrp="1"/>
          </p:cNvSpPr>
          <p:nvPr/>
        </p:nvSpPr>
        <p:spPr>
          <a:xfrm>
            <a:off x="755650" y="2471341"/>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Standard</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(EFS-IA) Infrequent Acce</a:t>
            </a:r>
            <a:r>
              <a:rPr lang="en-US" sz="1950" dirty="0">
                <a:solidFill>
                  <a:srgbClr val="A8B8C8"/>
                </a:solidFill>
                <a:latin typeface="DejaVu Sans"/>
                <a:ea typeface="DejaVu Sans"/>
                <a:cs typeface="DejaVu Sans"/>
              </a:rPr>
              <a:t>ss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Archive</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14" name="Rectangle 13">
            <a:extLst>
              <a:ext uri="{FF2B5EF4-FFF2-40B4-BE49-F238E27FC236}">
                <a16:creationId xmlns:a16="http://schemas.microsoft.com/office/drawing/2014/main" id="{641FC779-FF2D-9D8F-2C43-A02A3E380AE8}"/>
              </a:ext>
            </a:extLst>
          </p:cNvPr>
          <p:cNvSpPr>
            <a:spLocks noGrp="1"/>
          </p:cNvSpPr>
          <p:nvPr/>
        </p:nvSpPr>
        <p:spPr>
          <a:xfrm>
            <a:off x="762000" y="40100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p:txBody>
      </p:sp>
      <p:sp>
        <p:nvSpPr>
          <p:cNvPr id="8" name="Rectangle 7">
            <a:extLst>
              <a:ext uri="{FF2B5EF4-FFF2-40B4-BE49-F238E27FC236}">
                <a16:creationId xmlns:a16="http://schemas.microsoft.com/office/drawing/2014/main" id="{867E5B54-FFAD-DB1D-20E1-2F3835AAE527}"/>
              </a:ext>
            </a:extLst>
          </p:cNvPr>
          <p:cNvSpPr>
            <a:spLocks noGrp="1"/>
          </p:cNvSpPr>
          <p:nvPr/>
        </p:nvSpPr>
        <p:spPr>
          <a:xfrm>
            <a:off x="714375" y="4152900"/>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Lifecycle Policy</a:t>
            </a:r>
            <a:endParaRPr sz="1950" b="1" dirty="0">
              <a:solidFill>
                <a:srgbClr val="FFFFFF"/>
              </a:solidFill>
              <a:latin typeface="DejaVu Sans"/>
              <a:ea typeface="DejaVu Sans"/>
              <a:cs typeface="DejaVu Sans"/>
            </a:endParaRPr>
          </a:p>
        </p:txBody>
      </p:sp>
      <p:pic>
        <p:nvPicPr>
          <p:cNvPr id="10" name="Picture 9">
            <a:extLst>
              <a:ext uri="{FF2B5EF4-FFF2-40B4-BE49-F238E27FC236}">
                <a16:creationId xmlns:a16="http://schemas.microsoft.com/office/drawing/2014/main" id="{6D624318-8244-F430-A861-60D1D3B6F74F}"/>
              </a:ext>
            </a:extLst>
          </p:cNvPr>
          <p:cNvPicPr>
            <a:picLocks noChangeAspect="1"/>
          </p:cNvPicPr>
          <p:nvPr/>
        </p:nvPicPr>
        <p:blipFill>
          <a:blip r:embed="rId3"/>
          <a:stretch>
            <a:fillRect/>
          </a:stretch>
        </p:blipFill>
        <p:spPr>
          <a:xfrm>
            <a:off x="7387590" y="496411"/>
            <a:ext cx="3834746" cy="57073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3" name="Rectangle 12">
            <a:extLst>
              <a:ext uri="{FF2B5EF4-FFF2-40B4-BE49-F238E27FC236}">
                <a16:creationId xmlns:a16="http://schemas.microsoft.com/office/drawing/2014/main" id="{CB5C2DE0-E81D-EE9D-70CB-DDC2BC879575}"/>
              </a:ext>
            </a:extLst>
          </p:cNvPr>
          <p:cNvSpPr>
            <a:spLocks noGrp="1"/>
          </p:cNvSpPr>
          <p:nvPr/>
        </p:nvSpPr>
        <p:spPr>
          <a:xfrm>
            <a:off x="685800" y="4681538"/>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Allow for the movement of files</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Tree>
    <p:extLst>
      <p:ext uri="{BB962C8B-B14F-4D97-AF65-F5344CB8AC3E}">
        <p14:creationId xmlns:p14="http://schemas.microsoft.com/office/powerpoint/2010/main" val="2010812920"/>
      </p:ext>
    </p:extLst>
  </p:cSld>
  <p:clrMapOvr>
    <a:masterClrMapping/>
  </p:clrMapOvr>
  <mc:AlternateContent xmlns:mc="http://schemas.openxmlformats.org/markup-compatibility/2006" xmlns:p14="http://schemas.microsoft.com/office/powerpoint/2010/main">
    <mc:Choice Requires="p14">
      <p:transition spd="slow" p14:dur="2000" advTm="109496"/>
    </mc:Choice>
    <mc:Fallback xmlns="">
      <p:transition spd="slow" advTm="109496"/>
    </mc:Fallback>
  </mc:AlternateContent>
</p:sld>
</file>

<file path=ppt/theme/theme1.xml><?xml version="1.0" encoding="utf-8"?>
<a:theme xmlns:a="http://schemas.openxmlformats.org/drawingml/2006/main" name="ChatGP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954</Words>
  <Application>Microsoft Office PowerPoint</Application>
  <DocSecurity>0</DocSecurity>
  <PresentationFormat>Widescreen</PresentationFormat>
  <Paragraphs>84</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Calibri</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Marcin Hoffman</cp:lastModifiedBy>
  <cp:revision>2</cp:revision>
  <dcterms:created xsi:type="dcterms:W3CDTF">2026-09-21T03:09:06Z</dcterms:created>
  <dcterms:modified xsi:type="dcterms:W3CDTF">2026-09-22T02:50:05Z</dcterms:modified>
</cp:coreProperties>
</file>